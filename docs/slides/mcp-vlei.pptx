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on one question: when an agent calls a tool across an organizational boundary, who is accountable, and how does the other side check?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inherits a well-specified authentication stack. Every layer answers a real question. TLS proves control of a domain name. The OAuth issuer identifies the authorization server. The client ID proves control of the URL serving the client metadata. The subject identifies the human user.</a:t>
            </a:r>
          </a:p>
          <a:p/>
          <a:p>
            <a:r>
              <a:t>Read the right-hand column. Domain control, domain control, domain control, human user. No layer expresses a legal entity, and the specification is explicit that clientInfo must not be used for security decisions — correctly, because nothing backs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it rather than asserting it. One binary, one server, fifty hours requested three times, changing only what the client said its name was.</a:t>
            </a:r>
          </a:p>
          <a:p/>
          <a:p>
            <a:r>
              <a:t>The server's policy deliberately violates the specification — that is the experiment, not a recommendation. What it establishes is that no layer of the stack can tell the three runs apart.</a:t>
            </a:r>
          </a:p>
          <a:p/>
          <a:p>
            <a:r>
              <a:t>The code is in the repository. Nothing was run against anyone else's service.</a:t>
            </a:r>
          </a:p>
          <a:p/>
          <a:p>
            <a:r>
              <a:t>[Play demo-scene0.mp4, 45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models a host, a client, and a server. The thing that decides to invoke a tool has no representation — so it cannot be named, delegated to, constrained, or revoked at the protocol layer, because there is nothing there to name.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that premise, self-asserted metadata is harmless: a person is accountable at the point of action. When the agent executes autonomously, the premise no longer holds, and the layer carrying accountability is simply not present.</a:t>
            </a:r>
          </a:p>
          <a:p/>
          <a:p>
            <a:r>
              <a:t>Everyone has noticed. The published server-identity proposals all root trust in a domain, DNS, or a registry. Those answer 'which deployment is this'. None answers 'which legal entity is this', and none is revocable by an authority the counterparty's regulator also recognizes.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one alone is survivable. Together they are not: an agent acting without review, on something that binds its organization, against a counterparty that has never met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proposal for a new identity system. The Legal Entity credential binds an identifier to an LEI. The Engagement Context Role credential binds a person's identifier to a role within that entity. Both are chained ACDCs, both revocable, both verifiable offline.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agent's mandate — 'may file regulatory returns up to this amount' — is an engagement context, not a public office. ECR is the correct credential type, and the vocabulary belongs to the entity that defines the engagement.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travels in fields MCP already reserves for extensions, so a party that does not understand them behaves exactly as core MCP specifies.</a:t>
            </a:r>
          </a:p>
          <a:p/>
          <a:p>
            <a:r>
              <a:t>The last line is the one I would point at. The permission is declared in the schema the client already reads, so an agent can determine before calling whether it is entitled — and decline in terms a user understands, instead of attempting the call and interpreting a rejection.</a:t>
            </a:r>
          </a:p>
          <a:p/>
          <a:p>
            <a:r>
              <a:t>One structural note for the implementers here: Implementation has no _meta. That is why a server's credential travels at a well-known URL rather than on the party object.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checks, and the order is the design. Seven are decided from the request itself; one leaves the machine. A verification service that is slow or down then costs you one check instead of all of them.</a:t>
            </a:r>
          </a:p>
          <a:p/>
          <a:p>
            <a:r>
              <a:t>Nine failure layers, and the correct response differs for each. A stale signature is retried once. 'revoked' means stop and tell the user a new credential is needed. 'unknown_root' means two organizations disagree about whom they trust and only they can fix it. An agent that receives 'access denied' can do none of that.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cost us days, and none of them is derivable from the design. I am putting them on a slide because they are what a second implementer would otherwise pay for again.</a:t>
            </a:r>
          </a:p>
          <a:p/>
          <a:p>
            <a:r>
              <a:t>The verifier's presentation endpoint requires headers signed by the credential holder — so a relying party cannot hand someone else's credential to a service and ask about it. It verifies the chain itself. That single fact determines the shape of every deployment.</a:t>
            </a:r>
          </a:p>
          <a:p/>
          <a:p>
            <a:r>
              <a:t>The agent signs with its delegated identifier; the credential was issued to a person; the record is keyed by the person. Read the issuee out of the credential, and never take the caller's word for whose record to consult.</a:t>
            </a:r>
          </a:p>
          <a:p/>
          <a:p>
            <a:r>
              <a:t>And extensions only exist at the 2026-07-28 revision. A server that appears to advertise nothing is usually a client that never got past the legacy handshake. We spent an afternoon on that.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specification whose requirements cannot be traced to running code is a document. Every MUST and SHOULD in ours has a row: the function that implements it, the test that holds it.</a:t>
            </a:r>
          </a:p>
          <a:p/>
          <a:p>
            <a:r>
              <a:t>Writing that table found three requirements with nothing behind them. It also has a section on what we deliberately do not claim. A conformance document that lists only successes is not evidence of anything.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 are about to see is real KERI and real ACDCs, issued through GLEIF's own schemas, with a revocation read from the issuer's transaction event log. The one thing I control is the root of trust, because I do not have a production vLEI. In production the chain terminates at GLEIF's root.</a:t>
            </a:r>
          </a:p>
          <a:p/>
          <a:p>
            <a:r>
              <a:t>One more thing while this slide is up. We did use GLEIF's verifier, and we found a defect in its revocation path that takes the service down. It is written up and ready to file.</a:t>
            </a:r>
          </a:p>
          <a:p/>
          <a:p>
            <a:r>
              <a:t>[Play demo-full.mp4, 3:35.]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Institutions already have both. The first is a public key directory: publish once, and anyone verifies independently, including before making contact.</a:t>
            </a:r>
          </a:p>
          <a:p/>
          <a:p>
            <a:r>
              <a:t>The second is the letter of confirmation. District office A writes to office B to confirm a record; B replies; A relies on B's reply. As an agent call, B returns a signed attestation and A verifies B's signature.</a:t>
            </a:r>
          </a:p>
          <a:p/>
          <a:p>
            <a:r>
              <a:t>The correspondence procedure is not replaced by something unfamiliar. It becomes a verifiable call that completes in a second and leaves a signature rather than a letterhead.</a:t>
            </a:r>
          </a:p>
          <a:p/>
          <a:p>
            <a:r>
              <a:t>The honest limit: relying on an attestation means relying on that institution's judgment, exactly as relying on a letter does today. What the system enforces is that the attesting institution must itself have been verified first, and that every decision records whose attestation it rested on. It cannot make that institution careful.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is independently useful. An institution that stops after stage two has gained something real.</a:t>
            </a:r>
          </a:p>
          <a:p/>
          <a:p>
            <a:r>
              <a:t>Stage zero is the substantive one and it is not technical: the business unit defines its role vocabulary. Those names appear in every authorization decision and every audit record afterwards.</a:t>
            </a:r>
          </a:p>
          <a:p/>
          <a:p>
            <a:r>
              <a:t>Only stage three touches IT, and it is the one that decides whether this is a configuration change or a project. Verification goes at the gateway; the systems behind it read headers, as they already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deserves emphasis, because it is the one most likely to be misread. This does not replace existing user authentication. vLEI answers which organization; your existing sign-on still answers which user. A high-value action should require both. An institution that drops one because it gained the other has weakened itself.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rather state these than be asked. A valid credential proves an organization asserted a role. It does not prove the request is legitimate — authorization policy stays yours, and this makes it enforceable rather than writing it for you.</a:t>
            </a:r>
          </a:p>
          <a:p/>
          <a:p>
            <a:r>
              <a:t>The last one is a genuine open question, which brings me to what I am asking for.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the institutions here, first, because you are the ones who would carry the risk: one procedure, one counterpart, stages zero through three. Not a programme. One correspondence procedure that currently takes days, and no change to the system behind your gateway.</a:t>
            </a:r>
          </a:p>
          <a:p/>
          <a:p>
            <a:r>
              <a:t>To GLEIF: an ECR role vocabulary for agent engagement contexts. A confirmation of, or correction to, the delegated-AID model, including whether it is compatible with the Ecosystem Governance Framework — we chose a reading of the existing mechanisms and would rather be corrected now than at deployment. And test credentials against a real root, so the honesty statement can be retired.</a:t>
            </a:r>
          </a:p>
          <a:p/>
          <a:p>
            <a:r>
              <a:t>To AAIF: this belongs in the Security Interest Group and in the ext-auth discussion. I would like it discussed, and I would like to be told where it is wrong.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in one repository, Apache licensed. The specification, the package, both skills, the reference implementations, the gateway configuration, the conformance table — and the defect report, because we used your verifier and we owe you that.</a:t>
            </a:r>
          </a:p>
          <a:p/>
          <a:p>
            <a:r>
              <a:t>Thank you. I have time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2286000"/>
            <a:ext cx="10454335" cy="1097280"/>
          </a:xfrm>
          <a:prstGeom prst="rect">
            <a:avLst/>
          </a:prstGeom>
          <a:noFill/>
        </p:spPr>
        <p:txBody>
          <a:bodyPr wrap="square" anchor="t" lIns="0" rIns="0" tIns="0" bIns="0">
            <a:spAutoFit/>
          </a:bodyPr>
          <a:lstStyle/>
          <a:p>
            <a:pPr algn="l"/>
            <a:r>
              <a:rPr sz="4600" b="0" i="0">
                <a:solidFill>
                  <a:srgbClr val="1E1B16"/>
                </a:solidFill>
                <a:latin typeface="Georgia"/>
              </a:rPr>
              <a:t>Organizational Identity for MCP Agents</a:t>
            </a:r>
          </a:p>
        </p:txBody>
      </p:sp>
      <p:sp>
        <p:nvSpPr>
          <p:cNvPr id="3" name="TextBox 2"/>
          <p:cNvSpPr txBox="1"/>
          <p:nvPr/>
        </p:nvSpPr>
        <p:spPr>
          <a:xfrm>
            <a:off x="868680" y="3401568"/>
            <a:ext cx="10454335" cy="457200"/>
          </a:xfrm>
          <a:prstGeom prst="rect">
            <a:avLst/>
          </a:prstGeom>
          <a:noFill/>
        </p:spPr>
        <p:txBody>
          <a:bodyPr wrap="square" anchor="t" lIns="0" rIns="0" tIns="0" bIns="0">
            <a:spAutoFit/>
          </a:bodyPr>
          <a:lstStyle/>
          <a:p>
            <a:pPr algn="l"/>
            <a:r>
              <a:rPr sz="1900" b="0" i="0">
                <a:solidFill>
                  <a:srgbClr val="2E5D89"/>
                </a:solidFill>
                <a:latin typeface="Segoe UI"/>
              </a:rPr>
              <a:t>vLEI × Model Context Protocol</a:t>
            </a:r>
          </a:p>
        </p:txBody>
      </p:sp>
      <p:sp>
        <p:nvSpPr>
          <p:cNvPr id="4" name="Rectangle 3"/>
          <p:cNvSpPr/>
          <p:nvPr/>
        </p:nvSpPr>
        <p:spPr>
          <a:xfrm>
            <a:off x="868680" y="4114800"/>
            <a:ext cx="2011680" cy="27432"/>
          </a:xfrm>
          <a:prstGeom prst="rect">
            <a:avLst/>
          </a:prstGeom>
          <a:solidFill>
            <a:srgbClr val="2E5D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498848"/>
            <a:ext cx="10454335" cy="914400"/>
          </a:xfrm>
          <a:prstGeom prst="rect">
            <a:avLst/>
          </a:prstGeom>
          <a:noFill/>
        </p:spPr>
        <p:txBody>
          <a:bodyPr wrap="square" anchor="t" lIns="0" rIns="0" tIns="0" bIns="0">
            <a:spAutoFit/>
          </a:bodyPr>
          <a:lstStyle/>
          <a:p>
            <a:pPr algn="l">
              <a:spcAft>
                <a:spcPts val="600"/>
              </a:spcAft>
            </a:pPr>
            <a:r>
              <a:rPr sz="1400" b="0" i="0">
                <a:solidFill>
                  <a:srgbClr val="6E6658"/>
                </a:solidFill>
                <a:latin typeface="Segoe UI"/>
              </a:rPr>
              <a:t>An additive extension: org.gleif.vlei/identity</a:t>
            </a:r>
          </a:p>
          <a:p>
            <a:pPr>
              <a:spcAft>
                <a:spcPts val="600"/>
              </a:spcAft>
            </a:pPr>
            <a:r>
              <a:rPr sz="1400" b="0" i="0">
                <a:solidFill>
                  <a:srgbClr val="6E6658"/>
                </a:solidFill>
                <a:latin typeface="Consolas"/>
              </a:rPr>
              <a:t>github.com/zuemen/mcp-vlei · Apache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STACK TODAY</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What MCP verifies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68680" y="2066543"/>
          <a:ext cx="10454333" cy="2523744"/>
        </p:xfrm>
        <a:graphic>
          <a:graphicData uri="http://schemas.openxmlformats.org/drawingml/2006/table">
            <a:tbl>
              <a:tblPr firstRow="1" bandRow="1">
                <a:tableStyleId>{5C22544A-7EE6-4342-B048-85BDC9FD1C3A}</a:tableStyleId>
              </a:tblPr>
              <a:tblGrid>
                <a:gridCol w="2299953"/>
                <a:gridCol w="4077190"/>
                <a:gridCol w="4077190"/>
              </a:tblGrid>
              <a:tr h="420624">
                <a:tc>
                  <a:txBody>
                    <a:bodyPr/>
                    <a:lstStyle/>
                    <a:p>
                      <a:r>
                        <a:rPr sz="1100" b="1" i="0" spc="120">
                          <a:solidFill>
                            <a:srgbClr val="2E5D89"/>
                          </a:solidFill>
                          <a:latin typeface="Segoe UI"/>
                        </a:rPr>
                        <a:t>LAYER</a:t>
                      </a:r>
                    </a:p>
                  </a:txBody>
                  <a:tcPr>
                    <a:solidFill>
                      <a:srgbClr val="F7F5EF"/>
                    </a:solidFill>
                  </a:tcPr>
                </a:tc>
                <a:tc>
                  <a:txBody>
                    <a:bodyPr/>
                    <a:lstStyle/>
                    <a:p>
                      <a:r>
                        <a:rPr sz="1100" b="1" i="0" spc="120">
                          <a:solidFill>
                            <a:srgbClr val="2E5D89"/>
                          </a:solidFill>
                          <a:latin typeface="Segoe UI"/>
                        </a:rPr>
                        <a:t>WHAT IT PROVES</a:t>
                      </a:r>
                    </a:p>
                  </a:txBody>
                  <a:tcPr>
                    <a:solidFill>
                      <a:srgbClr val="F7F5EF"/>
                    </a:solidFill>
                  </a:tcPr>
                </a:tc>
                <a:tc>
                  <a:txBody>
                    <a:bodyPr/>
                    <a:lstStyle/>
                    <a:p>
                      <a:r>
                        <a:rPr sz="1100" b="1" i="0" spc="120">
                          <a:solidFill>
                            <a:srgbClr val="2E5D89"/>
                          </a:solidFill>
                          <a:latin typeface="Segoe UI"/>
                        </a:rPr>
                        <a:t>WHAT IT DOES NOT</a:t>
                      </a:r>
                    </a:p>
                  </a:txBody>
                  <a:tcPr>
                    <a:solidFill>
                      <a:srgbClr val="F7F5EF"/>
                    </a:solidFill>
                  </a:tcPr>
                </a:tc>
              </a:tr>
              <a:tr h="420624">
                <a:tc>
                  <a:txBody>
                    <a:bodyPr wrap="square"/>
                    <a:lstStyle/>
                    <a:p>
                      <a:r>
                        <a:rPr sz="1400" b="0" i="0">
                          <a:solidFill>
                            <a:srgbClr val="1E1B16"/>
                          </a:solidFill>
                          <a:latin typeface="Segoe UI"/>
                        </a:rPr>
                        <a:t>TLS</a:t>
                      </a:r>
                    </a:p>
                  </a:txBody>
                  <a:tcPr anchor="ctr">
                    <a:solidFill>
                      <a:srgbClr val="F7F5EF"/>
                    </a:solidFill>
                  </a:tcPr>
                </a:tc>
                <a:tc>
                  <a:txBody>
                    <a:bodyPr wrap="square"/>
                    <a:lstStyle/>
                    <a:p>
                      <a:r>
                        <a:rPr sz="1400" b="0" i="0">
                          <a:solidFill>
                            <a:srgbClr val="1E1B16"/>
                          </a:solidFill>
                          <a:latin typeface="Segoe UI"/>
                        </a:rPr>
                        <a:t>Control of a domain name</a:t>
                      </a:r>
                    </a:p>
                  </a:txBody>
                  <a:tcPr anchor="ctr">
                    <a:solidFill>
                      <a:srgbClr val="F7F5EF"/>
                    </a:solidFill>
                  </a:tcPr>
                </a:tc>
                <a:tc>
                  <a:txBody>
                    <a:bodyPr wrap="square"/>
                    <a:lstStyle/>
                    <a:p>
                      <a:r>
                        <a:rPr sz="1400" b="0" i="0">
                          <a:solidFill>
                            <a:srgbClr val="C0392B"/>
                          </a:solidFill>
                          <a:latin typeface="Segoe UI"/>
                        </a:rPr>
                        <a:t>— Which legal entity</a:t>
                      </a:r>
                    </a:p>
                  </a:txBody>
                  <a:tcPr anchor="ctr">
                    <a:solidFill>
                      <a:srgbClr val="F7F5EF"/>
                    </a:solidFill>
                  </a:tcPr>
                </a:tc>
              </a:tr>
              <a:tr h="420624">
                <a:tc>
                  <a:txBody>
                    <a:bodyPr wrap="square"/>
                    <a:lstStyle/>
                    <a:p>
                      <a:r>
                        <a:rPr sz="1400" b="0" i="0">
                          <a:solidFill>
                            <a:srgbClr val="1E1B16"/>
                          </a:solidFill>
                          <a:latin typeface="Segoe UI"/>
                        </a:rPr>
                        <a:t>OAuth `iss</a:t>
                      </a:r>
                    </a:p>
                  </a:txBody>
                  <a:tcPr anchor="ctr">
                    <a:solidFill>
                      <a:srgbClr val="F7F5EF"/>
                    </a:solidFill>
                  </a:tcPr>
                </a:tc>
                <a:tc>
                  <a:txBody>
                    <a:bodyPr wrap="square"/>
                    <a:lstStyle/>
                    <a:p>
                      <a:r>
                        <a:rPr sz="1400" b="0" i="0">
                          <a:solidFill>
                            <a:srgbClr val="1E1B16"/>
                          </a:solidFill>
                          <a:latin typeface="Segoe UI"/>
                        </a:rPr>
                        <a:t>Which authorization server</a:t>
                      </a:r>
                    </a:p>
                  </a:txBody>
                  <a:tcPr anchor="ctr">
                    <a:solidFill>
                      <a:srgbClr val="F7F5EF"/>
                    </a:solidFill>
                  </a:tcPr>
                </a:tc>
                <a:tc>
                  <a:txBody>
                    <a:bodyPr wrap="square"/>
                    <a:lstStyle/>
                    <a:p>
                      <a:r>
                        <a:rPr sz="1400" b="0" i="0">
                          <a:solidFill>
                            <a:srgbClr val="C0392B"/>
                          </a:solidFill>
                          <a:latin typeface="Segoe UI"/>
                        </a:rPr>
                        <a:t>— Which legal entity</a:t>
                      </a:r>
                    </a:p>
                  </a:txBody>
                  <a:tcPr anchor="ctr">
                    <a:solidFill>
                      <a:srgbClr val="F7F5EF"/>
                    </a:solidFill>
                  </a:tcPr>
                </a:tc>
              </a:tr>
              <a:tr h="420624">
                <a:tc>
                  <a:txBody>
                    <a:bodyPr wrap="square"/>
                    <a:lstStyle/>
                    <a:p>
                      <a:r>
                        <a:rPr sz="1400" b="0" i="0">
                          <a:solidFill>
                            <a:srgbClr val="1E1B16"/>
                          </a:solidFill>
                          <a:latin typeface="Segoe UI"/>
                        </a:rPr>
                        <a:t>OAuth `client_id</a:t>
                      </a:r>
                    </a:p>
                  </a:txBody>
                  <a:tcPr anchor="ctr">
                    <a:solidFill>
                      <a:srgbClr val="F7F5EF"/>
                    </a:solidFill>
                  </a:tcPr>
                </a:tc>
                <a:tc>
                  <a:txBody>
                    <a:bodyPr wrap="square"/>
                    <a:lstStyle/>
                    <a:p>
                      <a:r>
                        <a:rPr sz="1400" b="0" i="0">
                          <a:solidFill>
                            <a:srgbClr val="1E1B16"/>
                          </a:solidFill>
                          <a:latin typeface="Segoe UI"/>
                        </a:rPr>
                        <a:t>Control of a metadata URL</a:t>
                      </a:r>
                    </a:p>
                  </a:txBody>
                  <a:tcPr anchor="ctr">
                    <a:solidFill>
                      <a:srgbClr val="F7F5EF"/>
                    </a:solidFill>
                  </a:tcPr>
                </a:tc>
                <a:tc>
                  <a:txBody>
                    <a:bodyPr wrap="square"/>
                    <a:lstStyle/>
                    <a:p>
                      <a:r>
                        <a:rPr sz="1400" b="0" i="0">
                          <a:solidFill>
                            <a:srgbClr val="C0392B"/>
                          </a:solidFill>
                          <a:latin typeface="Segoe UI"/>
                        </a:rPr>
                        <a:t>— Which legal entity</a:t>
                      </a:r>
                    </a:p>
                  </a:txBody>
                  <a:tcPr anchor="ctr">
                    <a:solidFill>
                      <a:srgbClr val="F7F5EF"/>
                    </a:solidFill>
                  </a:tcPr>
                </a:tc>
              </a:tr>
              <a:tr h="420624">
                <a:tc>
                  <a:txBody>
                    <a:bodyPr wrap="square"/>
                    <a:lstStyle/>
                    <a:p>
                      <a:r>
                        <a:rPr sz="1400" b="0" i="0">
                          <a:solidFill>
                            <a:srgbClr val="1E1B16"/>
                          </a:solidFill>
                          <a:latin typeface="Segoe UI"/>
                        </a:rPr>
                        <a:t>OAuth `sub</a:t>
                      </a:r>
                    </a:p>
                  </a:txBody>
                  <a:tcPr anchor="ctr">
                    <a:solidFill>
                      <a:srgbClr val="F7F5EF"/>
                    </a:solidFill>
                  </a:tcPr>
                </a:tc>
                <a:tc>
                  <a:txBody>
                    <a:bodyPr wrap="square"/>
                    <a:lstStyle/>
                    <a:p>
                      <a:r>
                        <a:rPr sz="1400" b="0" i="0">
                          <a:solidFill>
                            <a:srgbClr val="1E1B16"/>
                          </a:solidFill>
                          <a:latin typeface="Segoe UI"/>
                        </a:rPr>
                        <a:t>Which human user</a:t>
                      </a:r>
                    </a:p>
                  </a:txBody>
                  <a:tcPr anchor="ctr">
                    <a:solidFill>
                      <a:srgbClr val="F7F5EF"/>
                    </a:solidFill>
                  </a:tcPr>
                </a:tc>
                <a:tc>
                  <a:txBody>
                    <a:bodyPr wrap="square"/>
                    <a:lstStyle/>
                    <a:p>
                      <a:r>
                        <a:rPr sz="1400" b="0" i="0">
                          <a:solidFill>
                            <a:srgbClr val="C0392B"/>
                          </a:solidFill>
                          <a:latin typeface="Segoe UI"/>
                        </a:rPr>
                        <a:t>— Which organization they bind</a:t>
                      </a:r>
                    </a:p>
                  </a:txBody>
                  <a:tcPr anchor="ctr">
                    <a:solidFill>
                      <a:srgbClr val="F7F5EF"/>
                    </a:solidFill>
                  </a:tcPr>
                </a:tc>
              </a:tr>
              <a:tr h="420624">
                <a:tc>
                  <a:txBody>
                    <a:bodyPr wrap="square"/>
                    <a:lstStyle/>
                    <a:p>
                      <a:r>
                        <a:rPr sz="1400" b="0" i="0">
                          <a:solidFill>
                            <a:srgbClr val="1E1B16"/>
                          </a:solidFill>
                          <a:latin typeface="Consolas"/>
                        </a:rPr>
                        <a:t>clientInfo</a:t>
                      </a:r>
                    </a:p>
                  </a:txBody>
                  <a:tcPr anchor="ctr">
                    <a:solidFill>
                      <a:srgbClr val="F7F5EF"/>
                    </a:solidFill>
                  </a:tcPr>
                </a:tc>
                <a:tc>
                  <a:txBody>
                    <a:bodyPr wrap="square"/>
                    <a:lstStyle/>
                    <a:p>
                      <a:r>
                        <a:rPr sz="1400" b="0" i="0">
                          <a:solidFill>
                            <a:srgbClr val="1E1B16"/>
                          </a:solidFill>
                          <a:latin typeface="Segoe UI"/>
                        </a:rPr>
                        <a:t>Nothing. It is self-asserted</a:t>
                      </a:r>
                    </a:p>
                  </a:txBody>
                  <a:tcPr anchor="ctr">
                    <a:solidFill>
                      <a:srgbClr val="F7F5EF"/>
                    </a:solidFill>
                  </a:tcPr>
                </a:tc>
                <a:tc>
                  <a:txBody>
                    <a:bodyPr wrap="square"/>
                    <a:lstStyle/>
                    <a:p>
                      <a:r>
                        <a:rPr sz="1400" b="0" i="0">
                          <a:solidFill>
                            <a:srgbClr val="C0392B"/>
                          </a:solidFill>
                          <a:latin typeface="Segoe UI"/>
                        </a:rPr>
                        <a:t>— MUST NOT be used for security</a:t>
                      </a:r>
                    </a:p>
                  </a:txBody>
                  <a:tcPr anchor="ctr">
                    <a:solidFill>
                      <a:srgbClr val="F7F5EF"/>
                    </a:solidFill>
                  </a:tcPr>
                </a:tc>
              </a:tr>
            </a:tbl>
          </a:graphicData>
        </a:graphic>
      </p:graphicFrame>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Domain control, domain control, domain control, human user.</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MEASURED, NOT ASSERTED</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The measurement</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68680" y="2066543"/>
          <a:ext cx="10454333" cy="1682496"/>
        </p:xfrm>
        <a:graphic>
          <a:graphicData uri="http://schemas.openxmlformats.org/drawingml/2006/table">
            <a:tbl>
              <a:tblPr firstRow="1" bandRow="1">
                <a:tableStyleId>{5C22544A-7EE6-4342-B048-85BDC9FD1C3A}</a:tableStyleId>
              </a:tblPr>
              <a:tblGrid>
                <a:gridCol w="3136300"/>
                <a:gridCol w="4390820"/>
                <a:gridCol w="2927213"/>
              </a:tblGrid>
              <a:tr h="420624">
                <a:tc>
                  <a:txBody>
                    <a:bodyPr/>
                    <a:lstStyle/>
                    <a:p>
                      <a:r>
                        <a:rPr sz="1100" b="1" i="0" spc="120">
                          <a:solidFill>
                            <a:srgbClr val="2E5D89"/>
                          </a:solidFill>
                          <a:latin typeface="Segoe UI"/>
                        </a:rPr>
                        <a:t>RUN</a:t>
                      </a:r>
                    </a:p>
                  </a:txBody>
                  <a:tcPr>
                    <a:solidFill>
                      <a:srgbClr val="F7F5EF"/>
                    </a:solidFill>
                  </a:tcPr>
                </a:tc>
                <a:tc>
                  <a:txBody>
                    <a:bodyPr/>
                    <a:lstStyle/>
                    <a:p>
                      <a:r>
                        <a:rPr sz="1100" b="1" i="0" spc="120">
                          <a:solidFill>
                            <a:srgbClr val="2E5D89"/>
                          </a:solidFill>
                          <a:latin typeface="Segoe UI"/>
                        </a:rPr>
                        <a:t>CLIENTINFO.NAME</a:t>
                      </a:r>
                    </a:p>
                  </a:txBody>
                  <a:tcPr>
                    <a:solidFill>
                      <a:srgbClr val="F7F5EF"/>
                    </a:solidFill>
                  </a:tcPr>
                </a:tc>
                <a:tc>
                  <a:txBody>
                    <a:bodyPr/>
                    <a:lstStyle/>
                    <a:p>
                      <a:r>
                        <a:rPr sz="1100" b="1" i="0" spc="120">
                          <a:solidFill>
                            <a:srgbClr val="2E5D89"/>
                          </a:solidFill>
                          <a:latin typeface="Segoe UI"/>
                        </a:rPr>
                        <a:t>APPROVED</a:t>
                      </a:r>
                    </a:p>
                  </a:txBody>
                  <a:tcPr>
                    <a:solidFill>
                      <a:srgbClr val="F7F5EF"/>
                    </a:solidFill>
                  </a:tcPr>
                </a:tc>
              </a:tr>
              <a:tr h="420624">
                <a:tc>
                  <a:txBody>
                    <a:bodyPr wrap="square"/>
                    <a:lstStyle/>
                    <a:p>
                      <a:r>
                        <a:rPr sz="1700" b="0" i="0">
                          <a:solidFill>
                            <a:srgbClr val="1E1B16"/>
                          </a:solidFill>
                          <a:latin typeface="Segoe UI"/>
                        </a:rPr>
                        <a:t>Honest</a:t>
                      </a:r>
                    </a:p>
                  </a:txBody>
                  <a:tcPr anchor="ctr">
                    <a:solidFill>
                      <a:srgbClr val="F7F5EF"/>
                    </a:solidFill>
                  </a:tcPr>
                </a:tc>
                <a:tc>
                  <a:txBody>
                    <a:bodyPr wrap="square"/>
                    <a:lstStyle/>
                    <a:p>
                      <a:r>
                        <a:rPr sz="1700" b="0" i="0">
                          <a:solidFill>
                            <a:srgbClr val="1E1B16"/>
                          </a:solidFill>
                          <a:latin typeface="Consolas"/>
                        </a:rPr>
                        <a:t>my-small-tool</a:t>
                      </a:r>
                    </a:p>
                  </a:txBody>
                  <a:tcPr anchor="ctr">
                    <a:solidFill>
                      <a:srgbClr val="F7F5EF"/>
                    </a:solidFill>
                  </a:tcPr>
                </a:tc>
                <a:tc>
                  <a:txBody>
                    <a:bodyPr wrap="square"/>
                    <a:lstStyle/>
                    <a:p>
                      <a:r>
                        <a:rPr sz="1700" b="0" i="0">
                          <a:solidFill>
                            <a:srgbClr val="1E1B16"/>
                          </a:solidFill>
                          <a:latin typeface="Segoe UI"/>
                        </a:rPr>
                        <a:t>1 hour</a:t>
                      </a:r>
                    </a:p>
                  </a:txBody>
                  <a:tcPr anchor="ctr">
                    <a:solidFill>
                      <a:srgbClr val="F7F5EF"/>
                    </a:solidFill>
                  </a:tcPr>
                </a:tc>
              </a:tr>
              <a:tr h="420624">
                <a:tc>
                  <a:txBody>
                    <a:bodyPr wrap="square"/>
                    <a:lstStyle/>
                    <a:p>
                      <a:r>
                        <a:rPr sz="1700" b="0" i="0">
                          <a:solidFill>
                            <a:srgbClr val="1E1B16"/>
                          </a:solidFill>
                          <a:latin typeface="Segoe UI"/>
                        </a:rPr>
                        <a:t>Spoofed</a:t>
                      </a:r>
                    </a:p>
                  </a:txBody>
                  <a:tcPr anchor="ctr">
                    <a:solidFill>
                      <a:srgbClr val="F7F5EF"/>
                    </a:solidFill>
                  </a:tcPr>
                </a:tc>
                <a:tc>
                  <a:txBody>
                    <a:bodyPr wrap="square"/>
                    <a:lstStyle/>
                    <a:p>
                      <a:r>
                        <a:rPr sz="1700" b="0" i="0">
                          <a:solidFill>
                            <a:srgbClr val="1E1B16"/>
                          </a:solidFill>
                          <a:latin typeface="Consolas"/>
                        </a:rPr>
                        <a:t>Claude Desktop</a:t>
                      </a:r>
                    </a:p>
                  </a:txBody>
                  <a:tcPr anchor="ctr">
                    <a:solidFill>
                      <a:srgbClr val="F7F5EF"/>
                    </a:solidFill>
                  </a:tcPr>
                </a:tc>
                <a:tc>
                  <a:txBody>
                    <a:bodyPr wrap="square"/>
                    <a:lstStyle/>
                    <a:p>
                      <a:r>
                        <a:rPr sz="1700" b="0" i="0">
                          <a:solidFill>
                            <a:srgbClr val="1E1B16"/>
                          </a:solidFill>
                          <a:latin typeface="Segoe UI"/>
                        </a:rPr>
                        <a:t>50 hours</a:t>
                      </a:r>
                    </a:p>
                  </a:txBody>
                  <a:tcPr anchor="ctr">
                    <a:solidFill>
                      <a:srgbClr val="F7F5EF"/>
                    </a:solidFill>
                  </a:tcPr>
                </a:tc>
              </a:tr>
              <a:tr h="420624">
                <a:tc>
                  <a:txBody>
                    <a:bodyPr wrap="square"/>
                    <a:lstStyle/>
                    <a:p>
                      <a:r>
                        <a:rPr sz="1700" b="0" i="0">
                          <a:solidFill>
                            <a:srgbClr val="1E1B16"/>
                          </a:solidFill>
                          <a:latin typeface="Segoe UI"/>
                        </a:rPr>
                        <a:t>Omitted</a:t>
                      </a:r>
                    </a:p>
                  </a:txBody>
                  <a:tcPr anchor="ctr">
                    <a:solidFill>
                      <a:srgbClr val="F7F5EF"/>
                    </a:solidFill>
                  </a:tcPr>
                </a:tc>
                <a:tc>
                  <a:txBody>
                    <a:bodyPr wrap="square"/>
                    <a:lstStyle/>
                    <a:p>
                      <a:r>
                        <a:rPr sz="1700" b="0" i="0">
                          <a:solidFill>
                            <a:srgbClr val="1E1B16"/>
                          </a:solidFill>
                          <a:latin typeface="Consolas"/>
                        </a:rPr>
                        <a:t>(absent)</a:t>
                      </a:r>
                    </a:p>
                  </a:txBody>
                  <a:tcPr anchor="ctr">
                    <a:solidFill>
                      <a:srgbClr val="F7F5EF"/>
                    </a:solidFill>
                  </a:tcPr>
                </a:tc>
                <a:tc>
                  <a:txBody>
                    <a:bodyPr wrap="square"/>
                    <a:lstStyle/>
                    <a:p>
                      <a:r>
                        <a:rPr sz="1700" b="0" i="0">
                          <a:solidFill>
                            <a:srgbClr val="1E1B16"/>
                          </a:solidFill>
                          <a:latin typeface="Segoe UI"/>
                        </a:rPr>
                        <a:t>1 hour</a:t>
                      </a:r>
                    </a:p>
                  </a:txBody>
                  <a:tcPr anchor="ctr">
                    <a:solidFill>
                      <a:srgbClr val="F7F5EF"/>
                    </a:solidFill>
                  </a:tcPr>
                </a:tc>
              </a:tr>
            </a:tbl>
          </a:graphicData>
        </a:graphic>
      </p:graphicFrame>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One binary, one variable. The server's policy deliberately violates the specification — that is the experiment, not a recommendation.</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PROTOCOL ITSELF</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The agent is absent from the protocol</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48256"/>
            <a:ext cx="10454335" cy="3566160"/>
          </a:xfrm>
          <a:prstGeom prst="rect">
            <a:avLst/>
          </a:prstGeom>
          <a:solidFill>
            <a:srgbClr val="EFE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2304288"/>
            <a:ext cx="9832543" cy="3108960"/>
          </a:xfrm>
          <a:prstGeom prst="rect">
            <a:avLst/>
          </a:prstGeom>
          <a:noFill/>
        </p:spPr>
        <p:txBody>
          <a:bodyPr wrap="square" anchor="t" lIns="0" rIns="0" tIns="0" bIns="0">
            <a:spAutoFit/>
          </a:bodyPr>
          <a:lstStyle/>
          <a:p>
            <a:pPr algn="l">
              <a:spcAft>
                <a:spcPts val="300"/>
              </a:spcAft>
            </a:pPr>
            <a:r>
              <a:rPr sz="1500" b="0" i="0">
                <a:solidFill>
                  <a:srgbClr val="1E1B16"/>
                </a:solidFill>
                <a:latin typeface="Consolas"/>
              </a:rPr>
              <a:t>schema.ts · revision 2026-07-28 · 3,197 lines</a:t>
            </a:r>
          </a:p>
          <a:p>
            <a:pPr>
              <a:spcAft>
                <a:spcPts val="300"/>
              </a:spcAft>
            </a:pPr>
            <a:r>
              <a:rPr sz="1500" b="0" i="0">
                <a:solidFill>
                  <a:srgbClr val="1E1B16"/>
                </a:solidFill>
                <a:latin typeface="Consolas"/>
              </a:rPr>
              <a:t/>
            </a:r>
          </a:p>
          <a:p>
            <a:pPr>
              <a:spcAft>
                <a:spcPts val="300"/>
              </a:spcAft>
            </a:pPr>
            <a:r>
              <a:rPr sz="1500" b="1" i="0">
                <a:solidFill>
                  <a:srgbClr val="2E5D89"/>
                </a:solidFill>
                <a:latin typeface="Consolas"/>
              </a:rPr>
              <a:t>  agent        0 occurrences</a:t>
            </a:r>
          </a:p>
          <a:p>
            <a:pPr>
              <a:spcAft>
                <a:spcPts val="300"/>
              </a:spcAft>
            </a:pPr>
            <a:r>
              <a:rPr sz="1500" b="1" i="0">
                <a:solidFill>
                  <a:srgbClr val="2E5D89"/>
                </a:solidFill>
                <a:latin typeface="Consolas"/>
              </a:rPr>
              <a:t>  principal    0 occurrences</a:t>
            </a:r>
          </a:p>
          <a:p>
            <a:pPr>
              <a:spcAft>
                <a:spcPts val="300"/>
              </a:spcAft>
            </a:pPr>
            <a:r>
              <a:rPr sz="1500" b="1" i="0">
                <a:solidFill>
                  <a:srgbClr val="2E5D89"/>
                </a:solidFill>
                <a:latin typeface="Consolas"/>
              </a:rPr>
              <a:t>  delegation   0 occurrences</a:t>
            </a:r>
          </a:p>
          <a:p>
            <a:pPr>
              <a:spcAft>
                <a:spcPts val="300"/>
              </a:spcAft>
            </a:pPr>
            <a:r>
              <a:rPr sz="1500" b="1" i="0">
                <a:solidFill>
                  <a:srgbClr val="2E5D89"/>
                </a:solidFill>
                <a:latin typeface="Consolas"/>
              </a:rPr>
              <a:t>  mandate      0 occurrences</a:t>
            </a:r>
          </a:p>
          <a:p>
            <a:pPr>
              <a:spcAft>
                <a:spcPts val="300"/>
              </a:spcAft>
            </a:pPr>
            <a:r>
              <a:rPr sz="1500" b="0" i="0">
                <a:solidFill>
                  <a:srgbClr val="1E1B16"/>
                </a:solidFill>
                <a:latin typeface="Consolas"/>
              </a:rPr>
              <a:t/>
            </a:r>
          </a:p>
          <a:p>
            <a:pPr>
              <a:spcAft>
                <a:spcPts val="300"/>
              </a:spcAft>
            </a:pPr>
            <a:r>
              <a:rPr sz="1500" b="0" i="0">
                <a:solidFill>
                  <a:srgbClr val="1E1B16"/>
                </a:solidFill>
                <a:latin typeface="Consolas"/>
              </a:rPr>
              <a:t>   host         modelled</a:t>
            </a:r>
          </a:p>
          <a:p>
            <a:pPr>
              <a:spcAft>
                <a:spcPts val="300"/>
              </a:spcAft>
            </a:pPr>
            <a:r>
              <a:rPr sz="1500" b="0" i="0">
                <a:solidFill>
                  <a:srgbClr val="1E1B16"/>
                </a:solidFill>
                <a:latin typeface="Consolas"/>
              </a:rPr>
              <a:t>   client       modelled</a:t>
            </a:r>
          </a:p>
          <a:p>
            <a:pPr>
              <a:spcAft>
                <a:spcPts val="300"/>
              </a:spcAft>
            </a:pPr>
            <a:r>
              <a:rPr sz="1500" b="0" i="0">
                <a:solidFill>
                  <a:srgbClr val="1E1B16"/>
                </a:solidFill>
                <a:latin typeface="Consolas"/>
              </a:rPr>
              <a:t>   server       modelled</a:t>
            </a:r>
          </a:p>
        </p:txBody>
      </p:sp>
      <p:sp>
        <p:nvSpPr>
          <p:cNvPr id="7" name="TextBox 6"/>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1E1B16"/>
                </a:solidFill>
                <a:latin typeface="Georgia"/>
              </a:rPr>
              <a:t>It cannot be named, delegated to, constrained, or revoked — there is nothing there to name.</a:t>
            </a:r>
          </a:p>
        </p:txBody>
      </p:sp>
      <p:sp>
        <p:nvSpPr>
          <p:cNvPr id="8" name="TextBox 7"/>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READ IT FAIRLY</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This is a boundary, not a defect</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10454335" cy="3749039"/>
          </a:xfrm>
          <a:prstGeom prst="rect">
            <a:avLst/>
          </a:prstGeom>
          <a:noFill/>
        </p:spPr>
        <p:txBody>
          <a:bodyPr wrap="square" anchor="t" lIns="0" rIns="0" tIns="0" bIns="0">
            <a:spAutoFit/>
          </a:bodyPr>
          <a:lstStyle/>
          <a:p>
            <a:pPr algn="l">
              <a:spcAft>
                <a:spcPts val="1600"/>
              </a:spcAft>
            </a:pPr>
            <a:r>
              <a:rPr sz="1900" b="1" i="0">
                <a:solidFill>
                  <a:srgbClr val="2E5D89"/>
                </a:solidFill>
                <a:latin typeface="Segoe UI"/>
              </a:rPr>
              <a:t>"MCP's trust model assumes a human in the loop"</a:t>
            </a:r>
            <a:r>
              <a:rPr sz="1900" b="0" i="0">
                <a:solidFill>
                  <a:srgbClr val="1E1B16"/>
                </a:solidFill>
                <a:latin typeface="Segoe UI"/>
              </a:rPr>
              <a:t>  — the Tools chapter's warning box</a:t>
            </a:r>
          </a:p>
          <a:p>
            <a:pPr>
              <a:spcAft>
                <a:spcPts val="1600"/>
              </a:spcAft>
            </a:pPr>
            <a:r>
              <a:rPr sz="1900" b="1" i="0">
                <a:solidFill>
                  <a:srgbClr val="2E5D89"/>
                </a:solidFill>
                <a:latin typeface="Segoe UI"/>
              </a:rPr>
              <a:t>NSA, May 2026</a:t>
            </a:r>
            <a:r>
              <a:rPr sz="1900" b="0" i="0">
                <a:solidFill>
                  <a:srgbClr val="1E1B16"/>
                </a:solidFill>
                <a:latin typeface="Segoe UI"/>
              </a:rPr>
              <a:t> — MCP does not define how a session maps to a verifiable identity</a:t>
            </a:r>
          </a:p>
          <a:p>
            <a:pPr>
              <a:spcAft>
                <a:spcPts val="1600"/>
              </a:spcAft>
            </a:pPr>
            <a:r>
              <a:rPr sz="1900" b="1" i="0">
                <a:solidFill>
                  <a:srgbClr val="2E5D89"/>
                </a:solidFill>
                <a:latin typeface="Segoe UI"/>
              </a:rPr>
              <a:t>Security IG proposals</a:t>
            </a:r>
            <a:r>
              <a:rPr sz="1900" b="0" i="0">
                <a:solidFill>
                  <a:srgbClr val="1E1B16"/>
                </a:solidFill>
                <a:latin typeface="Segoe UI"/>
              </a:rPr>
              <a:t> root in domain, DNS, or registry</a:t>
            </a:r>
          </a:p>
          <a:p>
            <a:pPr>
              <a:spcAft>
                <a:spcPts val="1600"/>
              </a:spcAft>
            </a:pPr>
            <a:r>
              <a:rPr sz="1900" b="1" i="0">
                <a:solidFill>
                  <a:srgbClr val="2E5D89"/>
                </a:solidFill>
                <a:latin typeface="Segoe UI"/>
              </a:rPr>
              <a:t>Those answer </a:t>
            </a:r>
            <a:r>
              <a:rPr sz="1900" b="0" i="0">
                <a:solidFill>
                  <a:srgbClr val="1E1B16"/>
                </a:solidFill>
                <a:latin typeface="Segoe UI"/>
              </a:rPr>
              <a:t>which deployment is this. None answers which legal entity is this.</a:t>
            </a:r>
          </a:p>
        </p:txBody>
      </p:sp>
      <p:sp>
        <p:nvSpPr>
          <p:cNvPr id="6" name="TextBox 5"/>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WHY THIS YEAR</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Why now</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10454335" cy="3749039"/>
          </a:xfrm>
          <a:prstGeom prst="rect">
            <a:avLst/>
          </a:prstGeom>
          <a:noFill/>
        </p:spPr>
        <p:txBody>
          <a:bodyPr wrap="square" anchor="t" lIns="0" rIns="0" tIns="0" bIns="0">
            <a:spAutoFit/>
          </a:bodyPr>
          <a:lstStyle/>
          <a:p>
            <a:pPr algn="l">
              <a:spcAft>
                <a:spcPts val="2200"/>
              </a:spcAft>
            </a:pPr>
            <a:r>
              <a:rPr sz="2200" b="0" i="0">
                <a:solidFill>
                  <a:srgbClr val="1E1B16"/>
                </a:solidFill>
                <a:latin typeface="Segoe UI"/>
              </a:rPr>
              <a:t>Autonomous execution — no human at the point of action</a:t>
            </a:r>
          </a:p>
          <a:p>
            <a:pPr>
              <a:spcAft>
                <a:spcPts val="2200"/>
              </a:spcAft>
            </a:pPr>
            <a:r>
              <a:rPr sz="2200" b="0" i="0">
                <a:solidFill>
                  <a:srgbClr val="1E1B16"/>
                </a:solidFill>
                <a:latin typeface="Segoe UI"/>
              </a:rPr>
              <a:t>Actions with legal effect — a filing, a payment, a submission</a:t>
            </a:r>
          </a:p>
          <a:p>
            <a:pPr>
              <a:spcAft>
                <a:spcPts val="2200"/>
              </a:spcAft>
            </a:pPr>
            <a:r>
              <a:rPr sz="2200" b="0" i="0">
                <a:solidFill>
                  <a:srgbClr val="1E1B16"/>
                </a:solidFill>
                <a:latin typeface="Segoe UI"/>
              </a:rPr>
              <a:t>Across organizations — a counterparty that has never met the agent</a:t>
            </a:r>
          </a:p>
        </p:txBody>
      </p:sp>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Any one alone is survivable. Together they are not.</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NOT A NEW IDENTITY SYSTEM</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GLEIF already solved the identity half</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10454335" cy="3749039"/>
          </a:xfrm>
          <a:prstGeom prst="rect">
            <a:avLst/>
          </a:prstGeom>
          <a:noFill/>
        </p:spPr>
        <p:txBody>
          <a:bodyPr wrap="square" anchor="t" lIns="0" rIns="0" tIns="0" bIns="0">
            <a:spAutoFit/>
          </a:bodyPr>
          <a:lstStyle/>
          <a:p>
            <a:pPr algn="l">
              <a:spcAft>
                <a:spcPts val="1600"/>
              </a:spcAft>
            </a:pPr>
            <a:r>
              <a:rPr sz="2000" b="1" i="0">
                <a:solidFill>
                  <a:srgbClr val="2E5D89"/>
                </a:solidFill>
                <a:latin typeface="Segoe UI"/>
              </a:rPr>
              <a:t>Legal Entity (LE)</a:t>
            </a:r>
            <a:r>
              <a:rPr sz="2000" b="0" i="0">
                <a:solidFill>
                  <a:srgbClr val="1E1B16"/>
                </a:solidFill>
                <a:latin typeface="Segoe UI"/>
              </a:rPr>
              <a:t> — binds an identifier to an LEI</a:t>
            </a:r>
          </a:p>
          <a:p>
            <a:pPr>
              <a:spcAft>
                <a:spcPts val="1600"/>
              </a:spcAft>
            </a:pPr>
            <a:r>
              <a:rPr sz="2000" b="1" i="0">
                <a:solidFill>
                  <a:srgbClr val="2E5D89"/>
                </a:solidFill>
                <a:latin typeface="Segoe UI"/>
              </a:rPr>
              <a:t>Engagement Context Role (ECR)</a:t>
            </a:r>
            <a:r>
              <a:rPr sz="2000" b="0" i="0">
                <a:solidFill>
                  <a:srgbClr val="1E1B16"/>
                </a:solidFill>
                <a:latin typeface="Segoe UI"/>
              </a:rPr>
              <a:t> — binds a person's identifier to a role within that entity</a:t>
            </a:r>
          </a:p>
          <a:p>
            <a:pPr>
              <a:spcAft>
                <a:spcPts val="1600"/>
              </a:spcAft>
            </a:pPr>
            <a:r>
              <a:rPr sz="2000" b="1" i="0">
                <a:solidFill>
                  <a:srgbClr val="2E5D89"/>
                </a:solidFill>
                <a:latin typeface="Segoe UI"/>
              </a:rPr>
              <a:t>Both chained ACDCs</a:t>
            </a:r>
            <a:r>
              <a:rPr sz="2000" b="0" i="0">
                <a:solidFill>
                  <a:srgbClr val="1E1B16"/>
                </a:solidFill>
                <a:latin typeface="Segoe UI"/>
              </a:rPr>
              <a:t> · both revocable · both verifiable offline</a:t>
            </a:r>
          </a:p>
          <a:p>
            <a:pPr>
              <a:spcAft>
                <a:spcPts val="1600"/>
              </a:spcAft>
            </a:pPr>
            <a:r>
              <a:rPr sz="2000" b="1" i="0">
                <a:solidFill>
                  <a:srgbClr val="2E5D89"/>
                </a:solidFill>
                <a:latin typeface="Segoe UI"/>
              </a:rPr>
              <a:t>Anchored in KERI</a:t>
            </a:r>
            <a:r>
              <a:rPr sz="2000" b="0" i="0">
                <a:solidFill>
                  <a:srgbClr val="1E1B16"/>
                </a:solidFill>
                <a:latin typeface="Segoe UI"/>
              </a:rPr>
              <a:t> — key event logs, not a certificate authority</a:t>
            </a:r>
          </a:p>
        </p:txBody>
      </p:sp>
      <p:sp>
        <p:nvSpPr>
          <p:cNvPr id="6" name="TextBox 5"/>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A DELIBERATE CHOICE</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Why ECR and not OOR</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68680" y="2066543"/>
          <a:ext cx="10454334" cy="1682496"/>
        </p:xfrm>
        <a:graphic>
          <a:graphicData uri="http://schemas.openxmlformats.org/drawingml/2006/table">
            <a:tbl>
              <a:tblPr firstRow="1" bandRow="1">
                <a:tableStyleId>{5C22544A-7EE6-4342-B048-85BDC9FD1C3A}</a:tableStyleId>
              </a:tblPr>
              <a:tblGrid>
                <a:gridCol w="2509040"/>
                <a:gridCol w="3972647"/>
                <a:gridCol w="3972647"/>
              </a:tblGrid>
              <a:tr h="420624">
                <a:tc>
                  <a:txBody>
                    <a:bodyPr/>
                    <a:lstStyle/>
                    <a:p>
                      <a:r>
                        <a:rPr sz="1100" b="1" i="0" spc="120">
                          <a:solidFill>
                            <a:srgbClr val="2E5D89"/>
                          </a:solidFill>
                          <a:latin typeface="Segoe UI"/>
                        </a:rPr>
                        <a:t/>
                      </a:r>
                    </a:p>
                  </a:txBody>
                  <a:tcPr>
                    <a:solidFill>
                      <a:srgbClr val="F7F5EF"/>
                    </a:solidFill>
                  </a:tcPr>
                </a:tc>
                <a:tc>
                  <a:txBody>
                    <a:bodyPr/>
                    <a:lstStyle/>
                    <a:p>
                      <a:r>
                        <a:rPr sz="1100" b="1" i="0" spc="120">
                          <a:solidFill>
                            <a:srgbClr val="2E5D89"/>
                          </a:solidFill>
                          <a:latin typeface="Segoe UI"/>
                        </a:rPr>
                        <a:t>OOR</a:t>
                      </a:r>
                    </a:p>
                  </a:txBody>
                  <a:tcPr>
                    <a:solidFill>
                      <a:srgbClr val="F7F5EF"/>
                    </a:solidFill>
                  </a:tcPr>
                </a:tc>
                <a:tc>
                  <a:txBody>
                    <a:bodyPr/>
                    <a:lstStyle/>
                    <a:p>
                      <a:r>
                        <a:rPr sz="1100" b="1" i="0" spc="120">
                          <a:solidFill>
                            <a:srgbClr val="2E5D89"/>
                          </a:solidFill>
                          <a:latin typeface="Segoe UI"/>
                        </a:rPr>
                        <a:t>ECR</a:t>
                      </a:r>
                    </a:p>
                  </a:txBody>
                  <a:tcPr>
                    <a:solidFill>
                      <a:srgbClr val="F7F5EF"/>
                    </a:solidFill>
                  </a:tcPr>
                </a:tc>
              </a:tr>
              <a:tr h="420624">
                <a:tc>
                  <a:txBody>
                    <a:bodyPr wrap="square"/>
                    <a:lstStyle/>
                    <a:p>
                      <a:r>
                        <a:rPr sz="1600" b="0" i="0">
                          <a:solidFill>
                            <a:srgbClr val="1E1B16"/>
                          </a:solidFill>
                          <a:latin typeface="Segoe UI"/>
                        </a:rPr>
                        <a:t>Names</a:t>
                      </a:r>
                    </a:p>
                  </a:txBody>
                  <a:tcPr anchor="ctr">
                    <a:solidFill>
                      <a:srgbClr val="F7F5EF"/>
                    </a:solidFill>
                  </a:tcPr>
                </a:tc>
                <a:tc>
                  <a:txBody>
                    <a:bodyPr wrap="square"/>
                    <a:lstStyle/>
                    <a:p>
                      <a:r>
                        <a:rPr sz="1600" b="0" i="0">
                          <a:solidFill>
                            <a:srgbClr val="1E1B16"/>
                          </a:solidFill>
                          <a:latin typeface="Segoe UI"/>
                        </a:rPr>
                        <a:t>A public office</a:t>
                      </a:r>
                    </a:p>
                  </a:txBody>
                  <a:tcPr anchor="ctr">
                    <a:solidFill>
                      <a:srgbClr val="F7F5EF"/>
                    </a:solidFill>
                  </a:tcPr>
                </a:tc>
                <a:tc>
                  <a:txBody>
                    <a:bodyPr wrap="square"/>
                    <a:lstStyle/>
                    <a:p>
                      <a:r>
                        <a:rPr sz="1600" b="0" i="0">
                          <a:solidFill>
                            <a:srgbClr val="1E1B16"/>
                          </a:solidFill>
                          <a:latin typeface="Segoe UI"/>
                        </a:rPr>
                        <a:t>An engagement context</a:t>
                      </a:r>
                    </a:p>
                  </a:txBody>
                  <a:tcPr anchor="ctr">
                    <a:solidFill>
                      <a:srgbClr val="F7F5EF"/>
                    </a:solidFill>
                  </a:tcPr>
                </a:tc>
              </a:tr>
              <a:tr h="420624">
                <a:tc>
                  <a:txBody>
                    <a:bodyPr wrap="square"/>
                    <a:lstStyle/>
                    <a:p>
                      <a:r>
                        <a:rPr sz="1600" b="0" i="0">
                          <a:solidFill>
                            <a:srgbClr val="1E1B16"/>
                          </a:solidFill>
                          <a:latin typeface="Segoe UI"/>
                        </a:rPr>
                        <a:t>Vocabulary</a:t>
                      </a:r>
                    </a:p>
                  </a:txBody>
                  <a:tcPr anchor="ctr">
                    <a:solidFill>
                      <a:srgbClr val="F7F5EF"/>
                    </a:solidFill>
                  </a:tcPr>
                </a:tc>
                <a:tc>
                  <a:txBody>
                    <a:bodyPr wrap="square"/>
                    <a:lstStyle/>
                    <a:p>
                      <a:r>
                        <a:rPr sz="1600" b="0" i="0">
                          <a:solidFill>
                            <a:srgbClr val="1E1B16"/>
                          </a:solidFill>
                          <a:latin typeface="Segoe UI"/>
                        </a:rPr>
                        <a:t>Controlled</a:t>
                      </a:r>
                    </a:p>
                  </a:txBody>
                  <a:tcPr anchor="ctr">
                    <a:solidFill>
                      <a:srgbClr val="F7F5EF"/>
                    </a:solidFill>
                  </a:tcPr>
                </a:tc>
                <a:tc>
                  <a:txBody>
                    <a:bodyPr wrap="square"/>
                    <a:lstStyle/>
                    <a:p>
                      <a:r>
                        <a:rPr sz="1600" b="0" i="0">
                          <a:solidFill>
                            <a:srgbClr val="1E1B16"/>
                          </a:solidFill>
                          <a:latin typeface="Segoe UI"/>
                        </a:rPr>
                        <a:t>Defined by the entity</a:t>
                      </a:r>
                    </a:p>
                  </a:txBody>
                  <a:tcPr anchor="ctr">
                    <a:solidFill>
                      <a:srgbClr val="F7F5EF"/>
                    </a:solidFill>
                  </a:tcPr>
                </a:tc>
              </a:tr>
              <a:tr h="420624">
                <a:tc>
                  <a:txBody>
                    <a:bodyPr wrap="square"/>
                    <a:lstStyle/>
                    <a:p>
                      <a:r>
                        <a:rPr sz="1600" b="0" i="0">
                          <a:solidFill>
                            <a:srgbClr val="1E1B16"/>
                          </a:solidFill>
                          <a:latin typeface="Segoe UI"/>
                        </a:rPr>
                        <a:t>Validated by</a:t>
                      </a:r>
                    </a:p>
                  </a:txBody>
                  <a:tcPr anchor="ctr">
                    <a:solidFill>
                      <a:srgbClr val="F7F5EF"/>
                    </a:solidFill>
                  </a:tcPr>
                </a:tc>
                <a:tc>
                  <a:txBody>
                    <a:bodyPr wrap="square"/>
                    <a:lstStyle/>
                    <a:p>
                      <a:r>
                        <a:rPr sz="1600" b="0" i="0">
                          <a:solidFill>
                            <a:srgbClr val="1E1B16"/>
                          </a:solidFill>
                          <a:latin typeface="Segoe UI"/>
                        </a:rPr>
                        <a:t>GLEIF</a:t>
                      </a:r>
                    </a:p>
                  </a:txBody>
                  <a:tcPr anchor="ctr">
                    <a:solidFill>
                      <a:srgbClr val="F7F5EF"/>
                    </a:solidFill>
                  </a:tcPr>
                </a:tc>
                <a:tc>
                  <a:txBody>
                    <a:bodyPr wrap="square"/>
                    <a:lstStyle/>
                    <a:p>
                      <a:r>
                        <a:rPr sz="1600" b="0" i="0">
                          <a:solidFill>
                            <a:srgbClr val="1E1B16"/>
                          </a:solidFill>
                          <a:latin typeface="Segoe UI"/>
                        </a:rPr>
                        <a:t>The entity itself</a:t>
                      </a:r>
                    </a:p>
                  </a:txBody>
                  <a:tcPr anchor="ctr">
                    <a:solidFill>
                      <a:srgbClr val="F7F5EF"/>
                    </a:solidFill>
                  </a:tcPr>
                </a:tc>
              </a:tr>
            </a:tbl>
          </a:graphicData>
        </a:graphic>
      </p:graphicFrame>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"May file regulatory returns up to this amount" is an engagement context, not a public office.</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EXTENSION</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What we added: the schema</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48256"/>
            <a:ext cx="10454335" cy="3566160"/>
          </a:xfrm>
          <a:prstGeom prst="rect">
            <a:avLst/>
          </a:prstGeom>
          <a:solidFill>
            <a:srgbClr val="EFE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2304288"/>
            <a:ext cx="9832543" cy="3108960"/>
          </a:xfrm>
          <a:prstGeom prst="rect">
            <a:avLst/>
          </a:prstGeom>
          <a:noFill/>
        </p:spPr>
        <p:txBody>
          <a:bodyPr wrap="square" anchor="t" lIns="0" rIns="0" tIns="0" bIns="0">
            <a:spAutoFit/>
          </a:bodyPr>
          <a:lstStyle/>
          <a:p>
            <a:pPr algn="l">
              <a:spcAft>
                <a:spcPts val="300"/>
              </a:spcAft>
            </a:pPr>
            <a:r>
              <a:rPr sz="1400" b="0" i="0">
                <a:solidFill>
                  <a:srgbClr val="1E1B16"/>
                </a:solidFill>
                <a:latin typeface="Consolas"/>
              </a:rPr>
              <a:t>Implementation.extensions["org.gleif.vlei/identity"]</a:t>
            </a:r>
          </a:p>
          <a:p>
            <a:pPr>
              <a:spcAft>
                <a:spcPts val="300"/>
              </a:spcAft>
            </a:pPr>
            <a:r>
              <a:rPr sz="1400" b="0" i="0">
                <a:solidFill>
                  <a:srgbClr val="1E1B16"/>
                </a:solidFill>
                <a:latin typeface="Consolas"/>
              </a:rPr>
              <a:t>    presents / requires / acceptedRoots / ttlMs</a:t>
            </a:r>
          </a:p>
          <a:p>
            <a:pPr>
              <a:spcAft>
                <a:spcPts val="300"/>
              </a:spcAft>
            </a:pPr>
            <a:r>
              <a:rPr sz="1400" b="0" i="0">
                <a:solidFill>
                  <a:srgbClr val="1E1B16"/>
                </a:solidFill>
                <a:latin typeface="Consolas"/>
              </a:rPr>
              <a:t/>
            </a:r>
          </a:p>
          <a:p>
            <a:pPr>
              <a:spcAft>
                <a:spcPts val="300"/>
              </a:spcAft>
            </a:pPr>
            <a:r>
              <a:rPr sz="1400" b="0" i="0">
                <a:solidFill>
                  <a:srgbClr val="1E1B16"/>
                </a:solidFill>
                <a:latin typeface="Consolas"/>
              </a:rPr>
              <a:t>params._meta</a:t>
            </a:r>
          </a:p>
          <a:p>
            <a:pPr>
              <a:spcAft>
                <a:spcPts val="300"/>
              </a:spcAft>
            </a:pPr>
            <a:r>
              <a:rPr sz="1400" b="1" i="0">
                <a:solidFill>
                  <a:srgbClr val="2E5D89"/>
                </a:solidFill>
                <a:latin typeface="Consolas"/>
              </a:rPr>
              <a:t>    org.gleif.vlei/credential</a:t>
            </a:r>
          </a:p>
          <a:p>
            <a:pPr>
              <a:spcAft>
                <a:spcPts val="300"/>
              </a:spcAft>
            </a:pPr>
            <a:r>
              <a:rPr sz="1400" b="1" i="0">
                <a:solidFill>
                  <a:srgbClr val="2E5D89"/>
                </a:solidFill>
                <a:latin typeface="Consolas"/>
              </a:rPr>
              <a:t>    org.gleif.vlei/credentialSaid</a:t>
            </a:r>
          </a:p>
          <a:p>
            <a:pPr>
              <a:spcAft>
                <a:spcPts val="300"/>
              </a:spcAft>
            </a:pPr>
            <a:r>
              <a:rPr sz="1400" b="1" i="0">
                <a:solidFill>
                  <a:srgbClr val="2E5D89"/>
                </a:solidFill>
                <a:latin typeface="Consolas"/>
              </a:rPr>
              <a:t>    org.gleif.vlei/delegatedAid</a:t>
            </a:r>
          </a:p>
          <a:p>
            <a:pPr>
              <a:spcAft>
                <a:spcPts val="300"/>
              </a:spcAft>
            </a:pPr>
            <a:r>
              <a:rPr sz="1400" b="1" i="0">
                <a:solidFill>
                  <a:srgbClr val="2E5D89"/>
                </a:solidFill>
                <a:latin typeface="Consolas"/>
              </a:rPr>
              <a:t>    org.gleif.vlei/signature</a:t>
            </a:r>
          </a:p>
          <a:p>
            <a:pPr>
              <a:spcAft>
                <a:spcPts val="300"/>
              </a:spcAft>
            </a:pPr>
            <a:r>
              <a:rPr sz="1400" b="0" i="0">
                <a:solidFill>
                  <a:srgbClr val="1E1B16"/>
                </a:solidFill>
                <a:latin typeface="Consolas"/>
              </a:rPr>
              <a:t/>
            </a:r>
          </a:p>
          <a:p>
            <a:pPr>
              <a:spcAft>
                <a:spcPts val="300"/>
              </a:spcAft>
            </a:pPr>
            <a:r>
              <a:rPr sz="1400" b="0" i="0">
                <a:solidFill>
                  <a:srgbClr val="1E1B16"/>
                </a:solidFill>
                <a:latin typeface="Consolas"/>
              </a:rPr>
              <a:t>Tool._meta</a:t>
            </a:r>
          </a:p>
          <a:p>
            <a:pPr>
              <a:spcAft>
                <a:spcPts val="300"/>
              </a:spcAft>
            </a:pPr>
            <a:r>
              <a:rPr sz="1400" b="1" i="0">
                <a:solidFill>
                  <a:srgbClr val="2E5D89"/>
                </a:solidFill>
                <a:latin typeface="Consolas"/>
              </a:rPr>
              <a:t>    org.gleif.vlei/requires  { credential, role, scope }</a:t>
            </a:r>
          </a:p>
        </p:txBody>
      </p:sp>
      <p:sp>
        <p:nvSpPr>
          <p:cNvPr id="7" name="TextBox 6"/>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1E1B16"/>
                </a:solidFill>
                <a:latin typeface="Georgia"/>
              </a:rPr>
              <a:t>Four keys in _meta. Nothing in core changes.</a:t>
            </a:r>
          </a:p>
        </p:txBody>
      </p:sp>
      <p:sp>
        <p:nvSpPr>
          <p:cNvPr id="8" name="TextBox 7"/>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EXTENSION</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What we added: verification</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48256"/>
            <a:ext cx="10454335" cy="3566160"/>
          </a:xfrm>
          <a:prstGeom prst="rect">
            <a:avLst/>
          </a:prstGeom>
          <a:solidFill>
            <a:srgbClr val="EFE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2304288"/>
            <a:ext cx="9832543" cy="3108960"/>
          </a:xfrm>
          <a:prstGeom prst="rect">
            <a:avLst/>
          </a:prstGeom>
          <a:noFill/>
        </p:spPr>
        <p:txBody>
          <a:bodyPr wrap="square" anchor="t" lIns="0" rIns="0" tIns="0" bIns="0">
            <a:spAutoFit/>
          </a:bodyPr>
          <a:lstStyle/>
          <a:p>
            <a:pPr algn="l">
              <a:spcAft>
                <a:spcPts val="300"/>
              </a:spcAft>
            </a:pPr>
            <a:r>
              <a:rPr sz="1500" b="0" i="0">
                <a:solidFill>
                  <a:srgbClr val="1E1B16"/>
                </a:solidFill>
                <a:latin typeface="Consolas"/>
              </a:rPr>
              <a:t>   1  credential_present      local</a:t>
            </a:r>
          </a:p>
          <a:p>
            <a:pPr>
              <a:spcAft>
                <a:spcPts val="300"/>
              </a:spcAft>
            </a:pPr>
            <a:r>
              <a:rPr sz="1500" b="0" i="0">
                <a:solidFill>
                  <a:srgbClr val="1E1B16"/>
                </a:solidFill>
                <a:latin typeface="Consolas"/>
              </a:rPr>
              <a:t>   2  freshness               local</a:t>
            </a:r>
          </a:p>
          <a:p>
            <a:pPr>
              <a:spcAft>
                <a:spcPts val="300"/>
              </a:spcAft>
            </a:pPr>
            <a:r>
              <a:rPr sz="1500" b="0" i="0">
                <a:solidFill>
                  <a:srgbClr val="1E1B16"/>
                </a:solidFill>
                <a:latin typeface="Consolas"/>
              </a:rPr>
              <a:t>   3  digest                  local</a:t>
            </a:r>
          </a:p>
          <a:p>
            <a:pPr>
              <a:spcAft>
                <a:spcPts val="300"/>
              </a:spcAft>
            </a:pPr>
            <a:r>
              <a:rPr sz="1500" b="0" i="0">
                <a:solidFill>
                  <a:srgbClr val="1E1B16"/>
                </a:solidFill>
                <a:latin typeface="Consolas"/>
              </a:rPr>
              <a:t>   4  signature               local</a:t>
            </a:r>
          </a:p>
          <a:p>
            <a:pPr>
              <a:spcAft>
                <a:spcPts val="300"/>
              </a:spcAft>
            </a:pPr>
            <a:r>
              <a:rPr sz="1500" b="0" i="0">
                <a:solidFill>
                  <a:srgbClr val="1E1B16"/>
                </a:solidFill>
                <a:latin typeface="Consolas"/>
              </a:rPr>
              <a:t>   5  delegation              local</a:t>
            </a:r>
          </a:p>
          <a:p>
            <a:pPr>
              <a:spcAft>
                <a:spcPts val="300"/>
              </a:spcAft>
            </a:pPr>
            <a:r>
              <a:rPr sz="1500" b="0" i="0">
                <a:solidFill>
                  <a:srgbClr val="1E1B16"/>
                </a:solidFill>
                <a:latin typeface="Consolas"/>
              </a:rPr>
              <a:t>   6  chain                   local</a:t>
            </a:r>
          </a:p>
          <a:p>
            <a:pPr>
              <a:spcAft>
                <a:spcPts val="300"/>
              </a:spcAft>
            </a:pPr>
            <a:r>
              <a:rPr sz="1500" b="1" i="0">
                <a:solidFill>
                  <a:srgbClr val="2E5D89"/>
                </a:solidFill>
                <a:latin typeface="Consolas"/>
              </a:rPr>
              <a:t>  7  revocation              the one remote check — deliberately last</a:t>
            </a:r>
          </a:p>
          <a:p>
            <a:pPr>
              <a:spcAft>
                <a:spcPts val="300"/>
              </a:spcAft>
            </a:pPr>
            <a:r>
              <a:rPr sz="1500" b="0" i="0">
                <a:solidFill>
                  <a:srgbClr val="1E1B16"/>
                </a:solidFill>
                <a:latin typeface="Consolas"/>
              </a:rPr>
              <a:t>   8  authority               local</a:t>
            </a:r>
          </a:p>
        </p:txBody>
      </p:sp>
      <p:sp>
        <p:nvSpPr>
          <p:cNvPr id="7" name="TextBox 6"/>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1E1B16"/>
                </a:solidFill>
                <a:latin typeface="Georgia"/>
              </a:rPr>
              <a:t>Eight checks. Nine failure layers. The verifier decides; nothing else does.</a:t>
            </a:r>
          </a:p>
        </p:txBody>
      </p:sp>
      <p:sp>
        <p:nvSpPr>
          <p:cNvPr id="8" name="TextBox 7"/>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FROM BUILDING IT</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Three things the paper design did not predict</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10454335" cy="3749039"/>
          </a:xfrm>
          <a:prstGeom prst="rect">
            <a:avLst/>
          </a:prstGeom>
          <a:noFill/>
        </p:spPr>
        <p:txBody>
          <a:bodyPr wrap="square" anchor="t" lIns="0" rIns="0" tIns="0" bIns="0">
            <a:spAutoFit/>
          </a:bodyPr>
          <a:lstStyle/>
          <a:p>
            <a:pPr algn="l">
              <a:spcAft>
                <a:spcPts val="2400"/>
              </a:spcAft>
            </a:pPr>
            <a:r>
              <a:rPr sz="2100" b="1" i="0">
                <a:solidFill>
                  <a:srgbClr val="2E5D89"/>
                </a:solidFill>
                <a:latin typeface="Segoe UI"/>
              </a:rPr>
              <a:t>1  </a:t>
            </a:r>
            <a:r>
              <a:rPr sz="2100" b="0" i="0">
                <a:solidFill>
                  <a:srgbClr val="1E1B16"/>
                </a:solidFill>
                <a:latin typeface="Segoe UI"/>
              </a:rPr>
              <a:t>Presentation is the holder's step — so a counterparty's credential must be verified locally</a:t>
            </a:r>
          </a:p>
          <a:p>
            <a:pPr>
              <a:spcAft>
                <a:spcPts val="2400"/>
              </a:spcAft>
            </a:pPr>
            <a:r>
              <a:rPr sz="2100" b="1" i="0">
                <a:solidFill>
                  <a:srgbClr val="2E5D89"/>
                </a:solidFill>
                <a:latin typeface="Segoe UI"/>
              </a:rPr>
              <a:t>2  </a:t>
            </a:r>
            <a:r>
              <a:rPr sz="2100" b="0" i="0">
                <a:solidFill>
                  <a:srgbClr val="1E1B16"/>
                </a:solidFill>
                <a:latin typeface="Segoe UI"/>
              </a:rPr>
              <a:t>Ask about the issuee, not the signer</a:t>
            </a:r>
          </a:p>
          <a:p>
            <a:pPr>
              <a:spcAft>
                <a:spcPts val="2400"/>
              </a:spcAft>
            </a:pPr>
            <a:r>
              <a:rPr sz="2100" b="1" i="0">
                <a:solidFill>
                  <a:srgbClr val="2E5D89"/>
                </a:solidFill>
                <a:latin typeface="Segoe UI"/>
              </a:rPr>
              <a:t>3  </a:t>
            </a:r>
            <a:r>
              <a:rPr sz="2100" b="0" i="0">
                <a:solidFill>
                  <a:srgbClr val="1E1B16"/>
                </a:solidFill>
                <a:latin typeface="Segoe UI"/>
              </a:rPr>
              <a:t>Protocol version negotiation decides whether extensions exist at all</a:t>
            </a:r>
          </a:p>
        </p:txBody>
      </p:sp>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None of the three is derivable from the design. They are what a second implementer would otherwise pay for again.</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TRACEABILITY</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Every requirement, traced</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10454335" cy="3749039"/>
          </a:xfrm>
          <a:prstGeom prst="rect">
            <a:avLst/>
          </a:prstGeom>
          <a:noFill/>
        </p:spPr>
        <p:txBody>
          <a:bodyPr wrap="square" anchor="t" lIns="0" rIns="0" tIns="0" bIns="0">
            <a:spAutoFit/>
          </a:bodyPr>
          <a:lstStyle/>
          <a:p>
            <a:pPr algn="l">
              <a:spcAft>
                <a:spcPts val="2200"/>
              </a:spcAft>
            </a:pPr>
            <a:r>
              <a:rPr sz="2100" b="0" i="0">
                <a:solidFill>
                  <a:srgbClr val="1E1B16"/>
                </a:solidFill>
                <a:latin typeface="Segoe UI"/>
              </a:rPr>
              <a:t>docs/CONFORMANCE.md — one row per normative statement, with its implementation and its test</a:t>
            </a:r>
          </a:p>
          <a:p>
            <a:pPr>
              <a:spcAft>
                <a:spcPts val="2200"/>
              </a:spcAft>
            </a:pPr>
            <a:r>
              <a:rPr sz="2100" b="0" i="0">
                <a:solidFill>
                  <a:srgbClr val="1E1B16"/>
                </a:solidFill>
                <a:latin typeface="Segoe UI"/>
              </a:rPr>
              <a:t>Three rows had nothing behind them. Writing the table is what found them.</a:t>
            </a:r>
          </a:p>
          <a:p>
            <a:pPr>
              <a:spcAft>
                <a:spcPts val="2200"/>
              </a:spcAft>
            </a:pPr>
            <a:r>
              <a:rPr sz="2100" b="0" i="0">
                <a:solidFill>
                  <a:srgbClr val="1E1B16"/>
                </a:solidFill>
                <a:latin typeface="Segoe UI"/>
              </a:rPr>
              <a:t>A section listing what is deliberately not claimed</a:t>
            </a:r>
          </a:p>
        </p:txBody>
      </p:sp>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A conformance document that lists only successes is not evidence of anything.</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1828800"/>
            <a:ext cx="10454335" cy="365760"/>
          </a:xfrm>
          <a:prstGeom prst="rect">
            <a:avLst/>
          </a:prstGeom>
          <a:noFill/>
        </p:spPr>
        <p:txBody>
          <a:bodyPr wrap="square" anchor="t" lIns="0" rIns="0" tIns="0" bIns="0">
            <a:spAutoFit/>
          </a:bodyPr>
          <a:lstStyle/>
          <a:p>
            <a:pPr algn="l"/>
            <a:r>
              <a:rPr sz="1100" b="1" i="0" spc="160">
                <a:solidFill>
                  <a:srgbClr val="2E5D89"/>
                </a:solidFill>
                <a:latin typeface="Segoe UI"/>
              </a:rPr>
              <a:t>DEMO</a:t>
            </a:r>
          </a:p>
        </p:txBody>
      </p:sp>
      <p:sp>
        <p:nvSpPr>
          <p:cNvPr id="3" name="TextBox 2"/>
          <p:cNvSpPr txBox="1"/>
          <p:nvPr/>
        </p:nvSpPr>
        <p:spPr>
          <a:xfrm>
            <a:off x="868680" y="2468880"/>
            <a:ext cx="10454335" cy="2377440"/>
          </a:xfrm>
          <a:prstGeom prst="rect">
            <a:avLst/>
          </a:prstGeom>
          <a:noFill/>
        </p:spPr>
        <p:txBody>
          <a:bodyPr wrap="square" anchor="t" lIns="0" rIns="0" tIns="0" bIns="0">
            <a:spAutoFit/>
          </a:bodyPr>
          <a:lstStyle/>
          <a:p>
            <a:pPr algn="l">
              <a:spcAft>
                <a:spcPts val="1400"/>
              </a:spcAft>
            </a:pPr>
            <a:r>
              <a:rPr sz="3000" b="0" i="0">
                <a:solidFill>
                  <a:srgbClr val="1E1B16"/>
                </a:solidFill>
                <a:latin typeface="Georgia"/>
              </a:rPr>
              <a:t>Real KERI, real ACDC, real revocation.</a:t>
            </a:r>
          </a:p>
          <a:p>
            <a:pPr>
              <a:spcAft>
                <a:spcPts val="1400"/>
              </a:spcAft>
            </a:pPr>
            <a:r>
              <a:rPr sz="3000" b="0" i="0">
                <a:solidFill>
                  <a:srgbClr val="C0392B"/>
                </a:solidFill>
                <a:latin typeface="Georgia"/>
              </a:rPr>
              <a:t>The root of trust is self-configured; in production it would be GLEIF's.</a:t>
            </a:r>
          </a:p>
        </p:txBody>
      </p:sp>
      <p:sp>
        <p:nvSpPr>
          <p:cNvPr id="4" name="TextBox 3"/>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We used GLEIF's verifier, found a defect in its revocation path, and wrote it up.</a:t>
            </a:r>
          </a:p>
        </p:txBody>
      </p:sp>
      <p:sp>
        <p:nvSpPr>
          <p:cNvPr id="5" name="TextBox 4"/>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BOTH ALREADY EXIST IN INSTITUTIONS</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Two ways to check an identity</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10454335" cy="3749039"/>
          </a:xfrm>
          <a:prstGeom prst="rect">
            <a:avLst/>
          </a:prstGeom>
          <a:noFill/>
        </p:spPr>
        <p:txBody>
          <a:bodyPr wrap="square" anchor="t" lIns="0" rIns="0" tIns="0" bIns="0">
            <a:spAutoFit/>
          </a:bodyPr>
          <a:lstStyle/>
          <a:p>
            <a:pPr algn="l">
              <a:spcAft>
                <a:spcPts val="2200"/>
              </a:spcAft>
            </a:pPr>
            <a:r>
              <a:rPr sz="1900" b="1" i="0">
                <a:solidFill>
                  <a:srgbClr val="2E5D89"/>
                </a:solidFill>
                <a:latin typeface="Segoe UI"/>
              </a:rPr>
              <a:t>(a) Passive, from a public location</a:t>
            </a:r>
            <a:r>
              <a:rPr sz="1900" b="0" i="0">
                <a:solidFill>
                  <a:srgbClr val="1E1B16"/>
                </a:solidFill>
                <a:latin typeface="Segoe UI"/>
              </a:rPr>
              <a:t> — publish once, verify anywhere, no per-check cost</a:t>
            </a:r>
          </a:p>
          <a:p>
            <a:pPr>
              <a:spcAft>
                <a:spcPts val="2200"/>
              </a:spcAft>
            </a:pPr>
            <a:r>
              <a:rPr sz="1900" b="1" i="0">
                <a:solidFill>
                  <a:srgbClr val="2E5D89"/>
                </a:solidFill>
                <a:latin typeface="Segoe UI"/>
              </a:rPr>
              <a:t>(b) Attested confirmation (來函確認)</a:t>
            </a:r>
            <a:r>
              <a:rPr sz="1900" b="0" i="0">
                <a:solidFill>
                  <a:srgbClr val="1E1B16"/>
                </a:solidFill>
                <a:latin typeface="Segoe UI"/>
              </a:rPr>
              <a:t> — one institution confirms to another, signed</a:t>
            </a:r>
          </a:p>
          <a:p>
            <a:pPr>
              <a:spcAft>
                <a:spcPts val="2200"/>
              </a:spcAft>
            </a:pPr>
            <a:r>
              <a:rPr sz="1900" b="1" i="0">
                <a:solidFill>
                  <a:srgbClr val="2E5D89"/>
                </a:solidFill>
                <a:latin typeface="Segoe UI"/>
              </a:rPr>
              <a:t>The limit, stated: </a:t>
            </a:r>
            <a:r>
              <a:rPr sz="1900" b="0" i="0">
                <a:solidFill>
                  <a:srgbClr val="1E1B16"/>
                </a:solidFill>
                <a:latin typeface="Segoe UI"/>
              </a:rPr>
              <a:t>relying on an attestation means relying on that institution's judgment — exactly as relying on a letter does today.</a:t>
            </a:r>
          </a:p>
        </p:txBody>
      </p:sp>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What the system enforces is that the attesting institution was itself verified first, and that every decision records whose attestation it rested on.</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ADOPTION</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Six stages, one of which touches IT</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10454335" cy="3749039"/>
          </a:xfrm>
          <a:prstGeom prst="rect">
            <a:avLst/>
          </a:prstGeom>
          <a:noFill/>
        </p:spPr>
        <p:txBody>
          <a:bodyPr wrap="square" anchor="t" lIns="0" rIns="0" tIns="0" bIns="0">
            <a:spAutoFit/>
          </a:bodyPr>
          <a:lstStyle/>
          <a:p>
            <a:pPr algn="l">
              <a:spcAft>
                <a:spcPts val="1200"/>
              </a:spcAft>
            </a:pPr>
            <a:r>
              <a:rPr sz="1900" b="1" i="0">
                <a:solidFill>
                  <a:srgbClr val="2E5D89"/>
                </a:solidFill>
                <a:latin typeface="Segoe UI"/>
              </a:rPr>
              <a:t>0  </a:t>
            </a:r>
            <a:r>
              <a:rPr sz="1900" b="0" i="0">
                <a:solidFill>
                  <a:srgbClr val="1E1B16"/>
                </a:solidFill>
                <a:latin typeface="Segoe UI"/>
              </a:rPr>
              <a:t>Credential and role vocabulary — the business unit, not IT</a:t>
            </a:r>
          </a:p>
          <a:p>
            <a:pPr>
              <a:spcAft>
                <a:spcPts val="1200"/>
              </a:spcAft>
            </a:pPr>
            <a:r>
              <a:rPr sz="1900" b="1" i="0">
                <a:solidFill>
                  <a:srgbClr val="2E5D89"/>
                </a:solidFill>
                <a:latin typeface="Segoe UI"/>
              </a:rPr>
              <a:t>1  </a:t>
            </a:r>
            <a:r>
              <a:rPr sz="1900" b="0" i="0">
                <a:solidFill>
                  <a:srgbClr val="1E1B16"/>
                </a:solidFill>
                <a:latin typeface="Segoe UI"/>
              </a:rPr>
              <a:t>Publish at a well-known location</a:t>
            </a:r>
          </a:p>
          <a:p>
            <a:pPr>
              <a:spcAft>
                <a:spcPts val="1200"/>
              </a:spcAft>
            </a:pPr>
            <a:r>
              <a:rPr sz="1900" b="1" i="0">
                <a:solidFill>
                  <a:srgbClr val="2E5D89"/>
                </a:solidFill>
                <a:latin typeface="Segoe UI"/>
              </a:rPr>
              <a:t>2  </a:t>
            </a:r>
            <a:r>
              <a:rPr sz="1900" b="0" i="0">
                <a:solidFill>
                  <a:srgbClr val="1E1B16"/>
                </a:solidFill>
                <a:latin typeface="Segoe UI"/>
              </a:rPr>
              <a:t>Declare the requirement per tool</a:t>
            </a:r>
          </a:p>
          <a:p>
            <a:pPr>
              <a:spcAft>
                <a:spcPts val="1200"/>
              </a:spcAft>
            </a:pPr>
            <a:r>
              <a:rPr sz="1900" b="1" i="0">
                <a:solidFill>
                  <a:srgbClr val="2E5D89"/>
                </a:solidFill>
                <a:latin typeface="Segoe UI"/>
              </a:rPr>
              <a:t>3  </a:t>
            </a:r>
            <a:r>
              <a:rPr sz="1900" b="0" i="0">
                <a:solidFill>
                  <a:srgbClr val="1E1B16"/>
                </a:solidFill>
                <a:latin typeface="Segoe UI"/>
              </a:rPr>
              <a:t>Verify at the gateway ← the only IT change</a:t>
            </a:r>
          </a:p>
          <a:p>
            <a:pPr>
              <a:spcAft>
                <a:spcPts val="1200"/>
              </a:spcAft>
            </a:pPr>
            <a:r>
              <a:rPr sz="1900" b="1" i="0">
                <a:solidFill>
                  <a:srgbClr val="2E5D89"/>
                </a:solidFill>
                <a:latin typeface="Segoe UI"/>
              </a:rPr>
              <a:t>4  </a:t>
            </a:r>
            <a:r>
              <a:rPr sz="1900" b="0" i="0">
                <a:solidFill>
                  <a:srgbClr val="1E1B16"/>
                </a:solidFill>
                <a:latin typeface="Segoe UI"/>
              </a:rPr>
              <a:t>Attestations between institutions</a:t>
            </a:r>
          </a:p>
          <a:p>
            <a:pPr>
              <a:spcAft>
                <a:spcPts val="1200"/>
              </a:spcAft>
            </a:pPr>
            <a:r>
              <a:rPr sz="1900" b="1" i="0">
                <a:solidFill>
                  <a:srgbClr val="2E5D89"/>
                </a:solidFill>
                <a:latin typeface="Segoe UI"/>
              </a:rPr>
              <a:t>5  </a:t>
            </a:r>
            <a:r>
              <a:rPr sz="1900" b="0" i="0">
                <a:solidFill>
                  <a:srgbClr val="1E1B16"/>
                </a:solidFill>
                <a:latin typeface="Segoe UI"/>
              </a:rPr>
              <a:t>Audit records</a:t>
            </a:r>
          </a:p>
        </p:txBody>
      </p:sp>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The filing service contains no verification code. It reads two headers.</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ADOPTION</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What an institution gets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68680" y="2066543"/>
          <a:ext cx="10454334" cy="2523744"/>
        </p:xfrm>
        <a:graphic>
          <a:graphicData uri="http://schemas.openxmlformats.org/drawingml/2006/table">
            <a:tbl>
              <a:tblPr firstRow="1" bandRow="1">
                <a:tableStyleId>{5C22544A-7EE6-4342-B048-85BDC9FD1C3A}</a:tableStyleId>
              </a:tblPr>
              <a:tblGrid>
                <a:gridCol w="3136300"/>
                <a:gridCol w="3659017"/>
                <a:gridCol w="3659017"/>
              </a:tblGrid>
              <a:tr h="420624">
                <a:tc>
                  <a:txBody>
                    <a:bodyPr/>
                    <a:lstStyle/>
                    <a:p>
                      <a:r>
                        <a:rPr sz="1100" b="1" i="0" spc="120">
                          <a:solidFill>
                            <a:srgbClr val="2E5D89"/>
                          </a:solidFill>
                          <a:latin typeface="Segoe UI"/>
                        </a:rPr>
                        <a:t/>
                      </a:r>
                    </a:p>
                  </a:txBody>
                  <a:tcPr>
                    <a:solidFill>
                      <a:srgbClr val="F7F5EF"/>
                    </a:solidFill>
                  </a:tcPr>
                </a:tc>
                <a:tc>
                  <a:txBody>
                    <a:bodyPr/>
                    <a:lstStyle/>
                    <a:p>
                      <a:r>
                        <a:rPr sz="1100" b="1" i="0" spc="120">
                          <a:solidFill>
                            <a:srgbClr val="2E5D89"/>
                          </a:solidFill>
                          <a:latin typeface="Segoe UI"/>
                        </a:rPr>
                        <a:t>TODAY</a:t>
                      </a:r>
                    </a:p>
                  </a:txBody>
                  <a:tcPr>
                    <a:solidFill>
                      <a:srgbClr val="F7F5EF"/>
                    </a:solidFill>
                  </a:tcPr>
                </a:tc>
                <a:tc>
                  <a:txBody>
                    <a:bodyPr/>
                    <a:lstStyle/>
                    <a:p>
                      <a:r>
                        <a:rPr sz="1100" b="1" i="0" spc="120">
                          <a:solidFill>
                            <a:srgbClr val="2E5D89"/>
                          </a:solidFill>
                          <a:latin typeface="Segoe UI"/>
                        </a:rPr>
                        <a:t>AFTER STAGE 3</a:t>
                      </a:r>
                    </a:p>
                  </a:txBody>
                  <a:tcPr>
                    <a:solidFill>
                      <a:srgbClr val="F7F5EF"/>
                    </a:solidFill>
                  </a:tcPr>
                </a:tc>
              </a:tr>
              <a:tr h="420624">
                <a:tc>
                  <a:txBody>
                    <a:bodyPr wrap="square"/>
                    <a:lstStyle/>
                    <a:p>
                      <a:r>
                        <a:rPr sz="1400" b="0" i="0">
                          <a:solidFill>
                            <a:srgbClr val="1E1B16"/>
                          </a:solidFill>
                          <a:latin typeface="Segoe UI"/>
                        </a:rPr>
                        <a:t>Who filed</a:t>
                      </a:r>
                    </a:p>
                  </a:txBody>
                  <a:tcPr anchor="ctr">
                    <a:solidFill>
                      <a:srgbClr val="F7F5EF"/>
                    </a:solidFill>
                  </a:tcPr>
                </a:tc>
                <a:tc>
                  <a:txBody>
                    <a:bodyPr wrap="square"/>
                    <a:lstStyle/>
                    <a:p>
                      <a:r>
                        <a:rPr sz="1400" b="0" i="0">
                          <a:solidFill>
                            <a:srgbClr val="1E1B16"/>
                          </a:solidFill>
                          <a:latin typeface="Segoe UI"/>
                        </a:rPr>
                        <a:t>A session, a token</a:t>
                      </a:r>
                    </a:p>
                  </a:txBody>
                  <a:tcPr anchor="ctr">
                    <a:solidFill>
                      <a:srgbClr val="F7F5EF"/>
                    </a:solidFill>
                  </a:tcPr>
                </a:tc>
                <a:tc>
                  <a:txBody>
                    <a:bodyPr wrap="square"/>
                    <a:lstStyle/>
                    <a:p>
                      <a:r>
                        <a:rPr sz="1400" b="0" i="0">
                          <a:solidFill>
                            <a:srgbClr val="1E1B16"/>
                          </a:solidFill>
                          <a:latin typeface="Segoe UI"/>
                        </a:rPr>
                        <a:t>A named entity and role</a:t>
                      </a:r>
                    </a:p>
                  </a:txBody>
                  <a:tcPr anchor="ctr">
                    <a:solidFill>
                      <a:srgbClr val="F7F5EF"/>
                    </a:solidFill>
                  </a:tcPr>
                </a:tc>
              </a:tr>
              <a:tr h="420624">
                <a:tc>
                  <a:txBody>
                    <a:bodyPr wrap="square"/>
                    <a:lstStyle/>
                    <a:p>
                      <a:r>
                        <a:rPr sz="1400" b="0" i="0">
                          <a:solidFill>
                            <a:srgbClr val="1E1B16"/>
                          </a:solidFill>
                          <a:latin typeface="Segoe UI"/>
                        </a:rPr>
                        <a:t>Authority changed</a:t>
                      </a:r>
                    </a:p>
                  </a:txBody>
                  <a:tcPr anchor="ctr">
                    <a:solidFill>
                      <a:srgbClr val="F7F5EF"/>
                    </a:solidFill>
                  </a:tcPr>
                </a:tc>
                <a:tc>
                  <a:txBody>
                    <a:bodyPr wrap="square"/>
                    <a:lstStyle/>
                    <a:p>
                      <a:r>
                        <a:rPr sz="1400" b="0" i="0">
                          <a:solidFill>
                            <a:srgbClr val="1E1B16"/>
                          </a:solidFill>
                          <a:latin typeface="Segoe UI"/>
                        </a:rPr>
                        <a:t>A ticket</a:t>
                      </a:r>
                    </a:p>
                  </a:txBody>
                  <a:tcPr anchor="ctr">
                    <a:solidFill>
                      <a:srgbClr val="F7F5EF"/>
                    </a:solidFill>
                  </a:tcPr>
                </a:tc>
                <a:tc>
                  <a:txBody>
                    <a:bodyPr wrap="square"/>
                    <a:lstStyle/>
                    <a:p>
                      <a:r>
                        <a:rPr sz="1400" b="0" i="0">
                          <a:solidFill>
                            <a:srgbClr val="1E1B16"/>
                          </a:solidFill>
                          <a:latin typeface="Segoe UI"/>
                        </a:rPr>
                        <a:t>Revoke the credential</a:t>
                      </a:r>
                    </a:p>
                  </a:txBody>
                  <a:tcPr anchor="ctr">
                    <a:solidFill>
                      <a:srgbClr val="F7F5EF"/>
                    </a:solidFill>
                  </a:tcPr>
                </a:tc>
              </a:tr>
              <a:tr h="420624">
                <a:tc>
                  <a:txBody>
                    <a:bodyPr wrap="square"/>
                    <a:lstStyle/>
                    <a:p>
                      <a:r>
                        <a:rPr sz="1400" b="0" i="0">
                          <a:solidFill>
                            <a:srgbClr val="1E1B16"/>
                          </a:solidFill>
                          <a:latin typeface="Segoe UI"/>
                        </a:rPr>
                        <a:t>New system built</a:t>
                      </a:r>
                    </a:p>
                  </a:txBody>
                  <a:tcPr anchor="ctr">
                    <a:solidFill>
                      <a:srgbClr val="F7F5EF"/>
                    </a:solidFill>
                  </a:tcPr>
                </a:tc>
                <a:tc>
                  <a:txBody>
                    <a:bodyPr wrap="square"/>
                    <a:lstStyle/>
                    <a:p>
                      <a:r>
                        <a:rPr sz="1400" b="0" i="0">
                          <a:solidFill>
                            <a:srgbClr val="C0392B"/>
                          </a:solidFill>
                          <a:latin typeface="Segoe UI"/>
                        </a:rPr>
                        <a:t>—</a:t>
                      </a:r>
                    </a:p>
                  </a:txBody>
                  <a:tcPr anchor="ctr">
                    <a:solidFill>
                      <a:srgbClr val="F7F5EF"/>
                    </a:solidFill>
                  </a:tcPr>
                </a:tc>
                <a:tc>
                  <a:txBody>
                    <a:bodyPr wrap="square"/>
                    <a:lstStyle/>
                    <a:p>
                      <a:r>
                        <a:rPr sz="1400" b="0" i="0">
                          <a:solidFill>
                            <a:srgbClr val="1E1B16"/>
                          </a:solidFill>
                          <a:latin typeface="Segoe UI"/>
                        </a:rPr>
                        <a:t>None</a:t>
                      </a:r>
                    </a:p>
                  </a:txBody>
                  <a:tcPr anchor="ctr">
                    <a:solidFill>
                      <a:srgbClr val="F7F5EF"/>
                    </a:solidFill>
                  </a:tcPr>
                </a:tc>
              </a:tr>
              <a:tr h="420624">
                <a:tc>
                  <a:txBody>
                    <a:bodyPr wrap="square"/>
                    <a:lstStyle/>
                    <a:p>
                      <a:r>
                        <a:rPr sz="1400" b="0" i="0">
                          <a:solidFill>
                            <a:srgbClr val="1E1B16"/>
                          </a:solidFill>
                          <a:latin typeface="Segoe UI"/>
                        </a:rPr>
                        <a:t>Existing sign-on</a:t>
                      </a:r>
                    </a:p>
                  </a:txBody>
                  <a:tcPr anchor="ctr">
                    <a:solidFill>
                      <a:srgbClr val="F7F5EF"/>
                    </a:solidFill>
                  </a:tcPr>
                </a:tc>
                <a:tc>
                  <a:txBody>
                    <a:bodyPr wrap="square"/>
                    <a:lstStyle/>
                    <a:p>
                      <a:r>
                        <a:rPr sz="1400" b="0" i="0">
                          <a:solidFill>
                            <a:srgbClr val="1E1B16"/>
                          </a:solidFill>
                          <a:latin typeface="Segoe UI"/>
                        </a:rPr>
                        <a:t>Answers which user</a:t>
                      </a:r>
                    </a:p>
                  </a:txBody>
                  <a:tcPr anchor="ctr">
                    <a:solidFill>
                      <a:srgbClr val="F7F5EF"/>
                    </a:solidFill>
                  </a:tcPr>
                </a:tc>
                <a:tc>
                  <a:txBody>
                    <a:bodyPr wrap="square"/>
                    <a:lstStyle/>
                    <a:p>
                      <a:r>
                        <a:rPr sz="1400" b="0" i="0">
                          <a:solidFill>
                            <a:srgbClr val="1E1B16"/>
                          </a:solidFill>
                          <a:latin typeface="Segoe UI"/>
                        </a:rPr>
                        <a:t>Unchanged — still required</a:t>
                      </a:r>
                    </a:p>
                  </a:txBody>
                  <a:tcPr anchor="ctr">
                    <a:solidFill>
                      <a:srgbClr val="F7F5EF"/>
                    </a:solidFill>
                  </a:tcPr>
                </a:tc>
              </a:tr>
              <a:tr h="420624">
                <a:tc>
                  <a:txBody>
                    <a:bodyPr wrap="square"/>
                    <a:lstStyle/>
                    <a:p>
                      <a:r>
                        <a:rPr sz="1400" b="0" i="0">
                          <a:solidFill>
                            <a:srgbClr val="1E1B16"/>
                          </a:solidFill>
                          <a:latin typeface="Segoe UI"/>
                        </a:rPr>
                        <a:t>Audit record</a:t>
                      </a:r>
                    </a:p>
                  </a:txBody>
                  <a:tcPr anchor="ctr">
                    <a:solidFill>
                      <a:srgbClr val="F7F5EF"/>
                    </a:solidFill>
                  </a:tcPr>
                </a:tc>
                <a:tc>
                  <a:txBody>
                    <a:bodyPr wrap="square"/>
                    <a:lstStyle/>
                    <a:p>
                      <a:r>
                        <a:rPr sz="1400" b="0" i="0">
                          <a:solidFill>
                            <a:srgbClr val="1E1B16"/>
                          </a:solidFill>
                          <a:latin typeface="Segoe UI"/>
                        </a:rPr>
                        <a:t>An IP and a timestamp</a:t>
                      </a:r>
                    </a:p>
                  </a:txBody>
                  <a:tcPr anchor="ctr">
                    <a:solidFill>
                      <a:srgbClr val="F7F5EF"/>
                    </a:solidFill>
                  </a:tcPr>
                </a:tc>
                <a:tc>
                  <a:txBody>
                    <a:bodyPr wrap="square"/>
                    <a:lstStyle/>
                    <a:p>
                      <a:r>
                        <a:rPr sz="1400" b="0" i="0">
                          <a:solidFill>
                            <a:srgbClr val="1E1B16"/>
                          </a:solidFill>
                          <a:latin typeface="Segoe UI"/>
                        </a:rPr>
                        <a:t>LEI, role, signature</a:t>
                      </a:r>
                    </a:p>
                  </a:txBody>
                  <a:tcPr anchor="ctr">
                    <a:solidFill>
                      <a:srgbClr val="F7F5EF"/>
                    </a:solidFill>
                  </a:tcPr>
                </a:tc>
              </a:tr>
            </a:tbl>
          </a:graphicData>
        </a:graphic>
      </p:graphicFrame>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vLEI answers which organization. Your existing sign-on still answers which user. A high-value action should require both.</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STATED, NOT WAITED FOR</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Limits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10454335" cy="3749039"/>
          </a:xfrm>
          <a:prstGeom prst="rect">
            <a:avLst/>
          </a:prstGeom>
          <a:noFill/>
        </p:spPr>
        <p:txBody>
          <a:bodyPr wrap="square" anchor="t" lIns="0" rIns="0" tIns="0" bIns="0">
            <a:spAutoFit/>
          </a:bodyPr>
          <a:lstStyle/>
          <a:p>
            <a:pPr algn="l">
              <a:spcAft>
                <a:spcPts val="1400"/>
              </a:spcAft>
            </a:pPr>
            <a:r>
              <a:rPr sz="2000" b="0" i="0">
                <a:solidFill>
                  <a:srgbClr val="1E1B16"/>
                </a:solidFill>
                <a:latin typeface="Segoe UI"/>
              </a:rPr>
              <a:t>Verifiable is not the same as trustworthy</a:t>
            </a:r>
          </a:p>
          <a:p>
            <a:pPr>
              <a:spcAft>
                <a:spcPts val="1400"/>
              </a:spcAft>
            </a:pPr>
            <a:r>
              <a:rPr sz="2000" b="0" i="0">
                <a:solidFill>
                  <a:srgbClr val="1E1B16"/>
                </a:solidFill>
                <a:latin typeface="Segoe UI"/>
              </a:rPr>
              <a:t>LEIs are not issued to private individuals</a:t>
            </a:r>
          </a:p>
          <a:p>
            <a:pPr>
              <a:spcAft>
                <a:spcPts val="1400"/>
              </a:spcAft>
            </a:pPr>
            <a:r>
              <a:rPr sz="2000" b="0" i="0">
                <a:solidFill>
                  <a:srgbClr val="1E1B16"/>
                </a:solidFill>
                <a:latin typeface="Segoe UI"/>
              </a:rPr>
              <a:t>There is a cost, and QVI coverage is still expanding</a:t>
            </a:r>
          </a:p>
          <a:p>
            <a:pPr>
              <a:spcAft>
                <a:spcPts val="1400"/>
              </a:spcAft>
            </a:pPr>
            <a:r>
              <a:rPr sz="2000" b="0" i="0">
                <a:solidFill>
                  <a:srgbClr val="1E1B16"/>
                </a:solidFill>
                <a:latin typeface="Segoe UI"/>
              </a:rPr>
              <a:t>Our demo root is self-configured</a:t>
            </a:r>
          </a:p>
          <a:p>
            <a:pPr>
              <a:spcAft>
                <a:spcPts val="1400"/>
              </a:spcAft>
            </a:pPr>
            <a:r>
              <a:rPr sz="2000" b="0" i="0">
                <a:solidFill>
                  <a:srgbClr val="1E1B16"/>
                </a:solidFill>
                <a:latin typeface="Segoe UI"/>
              </a:rPr>
              <a:t>Agent delegation conventions are not yet settled</a:t>
            </a:r>
          </a:p>
        </p:txBody>
      </p:sp>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A valid credential proves an organization asserted a role. It does not prove the request is legitimate.</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THE ASK</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Three requests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10454335" cy="3749039"/>
          </a:xfrm>
          <a:prstGeom prst="rect">
            <a:avLst/>
          </a:prstGeom>
          <a:noFill/>
        </p:spPr>
        <p:txBody>
          <a:bodyPr wrap="square" anchor="t" lIns="0" rIns="0" tIns="0" bIns="0">
            <a:spAutoFit/>
          </a:bodyPr>
          <a:lstStyle/>
          <a:p>
            <a:pPr algn="l">
              <a:spcAft>
                <a:spcPts val="2600"/>
              </a:spcAft>
            </a:pPr>
            <a:r>
              <a:rPr sz="2000" b="1" i="0">
                <a:solidFill>
                  <a:srgbClr val="2E5D89"/>
                </a:solidFill>
                <a:latin typeface="Segoe UI"/>
              </a:rPr>
              <a:t>Government  </a:t>
            </a:r>
            <a:r>
              <a:rPr sz="2000" b="0" i="0">
                <a:solidFill>
                  <a:srgbClr val="1E1B16"/>
                </a:solidFill>
                <a:latin typeface="Segoe UI"/>
              </a:rPr>
              <a:t>one small pilot: one filing or lookup procedure, stages 0 to 3, no change to the department's systems</a:t>
            </a:r>
          </a:p>
          <a:p>
            <a:pPr>
              <a:spcAft>
                <a:spcPts val="2600"/>
              </a:spcAft>
            </a:pPr>
            <a:r>
              <a:rPr sz="2000" b="1" i="0">
                <a:solidFill>
                  <a:srgbClr val="2E5D89"/>
                </a:solidFill>
                <a:latin typeface="Segoe UI"/>
              </a:rPr>
              <a:t>GLEIF  </a:t>
            </a:r>
            <a:r>
              <a:rPr sz="2000" b="0" i="0">
                <a:solidFill>
                  <a:srgbClr val="1E1B16"/>
                </a:solidFill>
                <a:latin typeface="Segoe UI"/>
              </a:rPr>
              <a:t>an ECR role vocabulary for agent contexts · confirmation of the delegation model against the EGF · test credentials</a:t>
            </a:r>
          </a:p>
          <a:p>
            <a:pPr>
              <a:spcAft>
                <a:spcPts val="2600"/>
              </a:spcAft>
            </a:pPr>
            <a:r>
              <a:rPr sz="2000" b="1" i="0">
                <a:solidFill>
                  <a:srgbClr val="2E5D89"/>
                </a:solidFill>
                <a:latin typeface="Segoe UI"/>
              </a:rPr>
              <a:t>AAIF  </a:t>
            </a:r>
            <a:r>
              <a:rPr sz="2000" b="0" i="0">
                <a:solidFill>
                  <a:srgbClr val="1E1B16"/>
                </a:solidFill>
                <a:latin typeface="Segoe UI"/>
              </a:rPr>
              <a:t>take this to the Security Interest Group and the ext-auth discussion</a:t>
            </a:r>
          </a:p>
        </p:txBody>
      </p:sp>
      <p:sp>
        <p:nvSpPr>
          <p:cNvPr id="6" name="TextBox 5"/>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6E6658"/>
                </a:solidFill>
                <a:latin typeface="Georgia"/>
              </a:rPr>
              <a:t>We chose a reading of the existing mechanisms, and would rather be corrected now than at deployment.</a:t>
            </a:r>
          </a:p>
        </p:txBody>
      </p:sp>
      <p:sp>
        <p:nvSpPr>
          <p:cNvPr id="7" name="TextBox 6"/>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68680" y="566928"/>
            <a:ext cx="10454335" cy="274320"/>
          </a:xfrm>
          <a:prstGeom prst="rect">
            <a:avLst/>
          </a:prstGeom>
          <a:noFill/>
        </p:spPr>
        <p:txBody>
          <a:bodyPr wrap="square" anchor="t" lIns="0" rIns="0" tIns="0" bIns="0">
            <a:spAutoFit/>
          </a:bodyPr>
          <a:lstStyle/>
          <a:p>
            <a:pPr algn="l"/>
            <a:r>
              <a:rPr sz="1100" b="1" i="0" spc="160">
                <a:solidFill>
                  <a:srgbClr val="2E5D89"/>
                </a:solidFill>
                <a:latin typeface="Segoe UI"/>
              </a:rPr>
              <a:t>ONE REPOSITORY, APACHE 2.0</a:t>
            </a:r>
          </a:p>
        </p:txBody>
      </p:sp>
      <p:sp>
        <p:nvSpPr>
          <p:cNvPr id="3" name="TextBox 2"/>
          <p:cNvSpPr txBox="1"/>
          <p:nvPr/>
        </p:nvSpPr>
        <p:spPr>
          <a:xfrm>
            <a:off x="868680" y="914400"/>
            <a:ext cx="10454335" cy="822960"/>
          </a:xfrm>
          <a:prstGeom prst="rect">
            <a:avLst/>
          </a:prstGeom>
          <a:noFill/>
        </p:spPr>
        <p:txBody>
          <a:bodyPr wrap="square" anchor="t" lIns="0" rIns="0" tIns="0" bIns="0">
            <a:spAutoFit/>
          </a:bodyPr>
          <a:lstStyle/>
          <a:p>
            <a:pPr algn="l"/>
            <a:r>
              <a:rPr sz="3200" b="0" i="0">
                <a:solidFill>
                  <a:srgbClr val="1E1B16"/>
                </a:solidFill>
                <a:latin typeface="Georgia"/>
              </a:rPr>
              <a:t>Artifacts</a:t>
            </a:r>
          </a:p>
        </p:txBody>
      </p:sp>
      <p:sp>
        <p:nvSpPr>
          <p:cNvPr id="4" name="Rectangle 3"/>
          <p:cNvSpPr/>
          <p:nvPr/>
        </p:nvSpPr>
        <p:spPr>
          <a:xfrm>
            <a:off x="868680" y="1700784"/>
            <a:ext cx="10454335" cy="9525"/>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48256"/>
            <a:ext cx="10454335" cy="3566160"/>
          </a:xfrm>
          <a:prstGeom prst="rect">
            <a:avLst/>
          </a:prstGeom>
          <a:solidFill>
            <a:srgbClr val="EFEB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2304288"/>
            <a:ext cx="9832543" cy="3108960"/>
          </a:xfrm>
          <a:prstGeom prst="rect">
            <a:avLst/>
          </a:prstGeom>
          <a:noFill/>
        </p:spPr>
        <p:txBody>
          <a:bodyPr wrap="square" anchor="t" lIns="0" rIns="0" tIns="0" bIns="0">
            <a:spAutoFit/>
          </a:bodyPr>
          <a:lstStyle/>
          <a:p>
            <a:pPr algn="l">
              <a:spcAft>
                <a:spcPts val="300"/>
              </a:spcAft>
            </a:pPr>
            <a:r>
              <a:rPr sz="1400" b="0" i="0">
                <a:solidFill>
                  <a:srgbClr val="1E1B16"/>
                </a:solidFill>
                <a:latin typeface="Consolas"/>
              </a:rPr>
              <a:t>spec/       specification v0.2, type definitions, wire examples, error shapes</a:t>
            </a:r>
          </a:p>
          <a:p>
            <a:pPr>
              <a:spcAft>
                <a:spcPts val="300"/>
              </a:spcAft>
            </a:pPr>
            <a:r>
              <a:rPr sz="1400" b="0" i="0">
                <a:solidFill>
                  <a:srgbClr val="1E1B16"/>
                </a:solidFill>
                <a:latin typeface="Consolas"/>
              </a:rPr>
              <a:t>packages/   mcp-vlei — extension, client, chain verification, 77 tests</a:t>
            </a:r>
          </a:p>
          <a:p>
            <a:pPr>
              <a:spcAft>
                <a:spcPts val="300"/>
              </a:spcAft>
            </a:pPr>
            <a:r>
              <a:rPr sz="1400" b="0" i="0">
                <a:solidFill>
                  <a:srgbClr val="1E1B16"/>
                </a:solidFill>
                <a:latin typeface="Consolas"/>
              </a:rPr>
              <a:t>skills/     implementing-vlei (build time) · vlei-identity (runtime)</a:t>
            </a:r>
          </a:p>
          <a:p>
            <a:pPr>
              <a:spcAft>
                <a:spcPts val="300"/>
              </a:spcAft>
            </a:pPr>
            <a:r>
              <a:rPr sz="1400" b="0" i="0">
                <a:solidFill>
                  <a:srgbClr val="1E1B16"/>
                </a:solidFill>
                <a:latin typeface="Consolas"/>
              </a:rPr>
              <a:t>examples/   impersonation · console · association server · agent · regulator</a:t>
            </a:r>
          </a:p>
          <a:p>
            <a:pPr>
              <a:spcAft>
                <a:spcPts val="300"/>
              </a:spcAft>
            </a:pPr>
            <a:r>
              <a:rPr sz="1400" b="0" i="0">
                <a:solidFill>
                  <a:srgbClr val="1E1B16"/>
                </a:solidFill>
                <a:latin typeface="Consolas"/>
              </a:rPr>
              <a:t>deploy/     gateway configuration — zero-code-change adoption</a:t>
            </a:r>
          </a:p>
          <a:p>
            <a:pPr>
              <a:spcAft>
                <a:spcPts val="300"/>
              </a:spcAft>
            </a:pPr>
            <a:r>
              <a:rPr sz="1400" b="0" i="0">
                <a:solidFill>
                  <a:srgbClr val="1E1B16"/>
                </a:solidFill>
                <a:latin typeface="Consolas"/>
              </a:rPr>
              <a:t>docs/       problem · government adoption · conformance · the upstream defect</a:t>
            </a:r>
          </a:p>
          <a:p>
            <a:pPr>
              <a:spcAft>
                <a:spcPts val="300"/>
              </a:spcAft>
            </a:pPr>
            <a:r>
              <a:rPr sz="1400" b="0" i="0">
                <a:solidFill>
                  <a:srgbClr val="1E1B16"/>
                </a:solidFill>
                <a:latin typeface="Consolas"/>
              </a:rPr>
              <a:t/>
            </a:r>
          </a:p>
          <a:p>
            <a:pPr>
              <a:spcAft>
                <a:spcPts val="300"/>
              </a:spcAft>
            </a:pPr>
            <a:r>
              <a:rPr sz="1400" b="0" i="0">
                <a:solidFill>
                  <a:srgbClr val="1E1B16"/>
                </a:solidFill>
                <a:latin typeface="Consolas"/>
              </a:rPr>
              <a:t>github.com/zuemen/mcp-vlei</a:t>
            </a:r>
          </a:p>
        </p:txBody>
      </p:sp>
      <p:sp>
        <p:nvSpPr>
          <p:cNvPr id="7" name="TextBox 6"/>
          <p:cNvSpPr txBox="1"/>
          <p:nvPr/>
        </p:nvSpPr>
        <p:spPr>
          <a:xfrm>
            <a:off x="868680" y="6053328"/>
            <a:ext cx="10454335" cy="365760"/>
          </a:xfrm>
          <a:prstGeom prst="rect">
            <a:avLst/>
          </a:prstGeom>
          <a:noFill/>
        </p:spPr>
        <p:txBody>
          <a:bodyPr wrap="square" anchor="t" lIns="0" rIns="0" tIns="0" bIns="0">
            <a:spAutoFit/>
          </a:bodyPr>
          <a:lstStyle/>
          <a:p>
            <a:pPr algn="l"/>
            <a:r>
              <a:rPr sz="1300" b="0" i="1">
                <a:solidFill>
                  <a:srgbClr val="1E1B16"/>
                </a:solidFill>
                <a:latin typeface="Georgia"/>
              </a:rPr>
              <a:t>Real KERI, real ACDC, real revocation. The root of trust is self-configured; in production it would be GLEIF's.</a:t>
            </a:r>
          </a:p>
        </p:txBody>
      </p:sp>
      <p:sp>
        <p:nvSpPr>
          <p:cNvPr id="8" name="TextBox 7"/>
          <p:cNvSpPr txBox="1"/>
          <p:nvPr/>
        </p:nvSpPr>
        <p:spPr>
          <a:xfrm>
            <a:off x="10225735" y="6089904"/>
            <a:ext cx="1097280" cy="274320"/>
          </a:xfrm>
          <a:prstGeom prst="rect">
            <a:avLst/>
          </a:prstGeom>
          <a:noFill/>
        </p:spPr>
        <p:txBody>
          <a:bodyPr wrap="square" anchor="t" lIns="0" rIns="0" tIns="0" bIns="0">
            <a:spAutoFit/>
          </a:bodyPr>
          <a:lstStyle/>
          <a:p>
            <a:pPr algn="r"/>
            <a:r>
              <a:rPr sz="1000" b="0" i="0" spc="80">
                <a:solidFill>
                  <a:srgbClr val="6E6658"/>
                </a:solidFill>
                <a:latin typeface="Segoe U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