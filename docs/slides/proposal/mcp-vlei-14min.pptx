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minutes on one question: when an agent calls a tool across an organizational boundary, who is accountable, and how does the other side check?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inherits a well-specified authentication stack. Every layer answers a real question. TLS proves control of a domain name. The OAuth issuer identifies the authorization server. The client ID proves control of the URL serving the client metadata. The subject identifies the human user.</a:t>
            </a:r>
          </a:p>
          <a:p/>
          <a:p>
            <a:r>
              <a:t>Read the right-hand column. Domain control, domain control, domain control, human user. No layer expresses a legal entity, and the specification is explicit that clientInfo must not be used for security decisions — correctly, because nothing backs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measured it rather than asserting it. One binary, one server, fifty hours requested three times, changing only what the client said its name was.</a:t>
            </a:r>
          </a:p>
          <a:p/>
          <a:p>
            <a:r>
              <a:t>The server's policy deliberately violates the specification — that is the experiment, not a recommendation. What it establishes is that no layer of the stack can tell the three runs apart.</a:t>
            </a:r>
          </a:p>
          <a:p/>
          <a:p>
            <a:r>
              <a:t>The code is in the repository. Nothing was run against anyone else's service.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models a host, a client, and a server. The thing that decides to invoke a tool has no representation — so it cannot be named, delegated to, constrained, or revoked at the protocol layer, because there is nothing there to name.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that premise, self-asserted metadata is harmless: a person is accountable at the point of action. When the agent executes autonomously, the premise no longer holds, and the layer carrying accountability is simply not present.</a:t>
            </a:r>
          </a:p>
          <a:p/>
          <a:p>
            <a:r>
              <a:t>Everyone has noticed. The published server-identity proposals all root trust in a domain, DNS, or a registry. Those answer 'which deployment is this'. None answers 'which legal entity is this', and none is revocable by an authority the counterparty's regulator also recognizes.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one alone is survivable. Together they are not: an agent acting without review, on something that binds its organization, against a counterparty that has never met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proposal for a new identity system. The Legal Entity credential binds an identifier to an LEI. The Engagement Context Role credential binds a person's identifier to a role within that entity. Both are chained ACDCs, both revocable, both verifiable offline.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agent's mandate — 'may file regulatory returns up to this amount' — is an engagement context, not a public office. ECR is the correct credential type, and the vocabulary belongs to the entity that defines the engagement.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travels in fields MCP already reserves for extensions, so a party that does not understand them behaves exactly as core MCP specifies.</a:t>
            </a:r>
          </a:p>
          <a:p/>
          <a:p>
            <a:r>
              <a:t>The last line is the one I would point at. The permission is declared in the schema the client already reads, so an agent can determine before calling whether it is entitled — and decline in terms a user understands, instead of attempting the call and interpreting a rejection.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checks, and the order is the design. The first three are decided from the request itself, before anything is fetched. Two read from a witness: the signer's current key, and the issuers' logs for revocation. A witness that is slow or down then costs you those checks, never the ones before them — a tampered request is refused as tampered, not as a timeout.</a:t>
            </a:r>
          </a:p>
          <a:p/>
          <a:p>
            <a:r>
              <a:t>Nine failure layers, and the correct response differs for each. A stale signature is retried once. revoked means stop and tell the user a new credential is needed. unknown_root means two organizations disagree about whom they trust and only they can fix it. An agent that receives 'access denied' can do none of that.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cost us days; I will name two, because a second implementer would otherwise pay for them again. Presentation is the holder's step: a relying party cannot hand someone else's credential to a service and ask about it, so it verifies the chain itself — that one fact shapes every deployment. And ask about the issuee, never the signer.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MUST and SHOULD in our specification has a row: the code that implements it and the test that holds it.</a:t>
            </a:r>
          </a:p>
          <a:p/>
          <a:p>
            <a:r>
              <a:t>A review found something worse than a missing row, and I would rather tell you than have you find it: our verifier checked the request signature under a key the request itself carried. Every test passed, because every test signed with the right key. It now reads the key from the signer's own log, and the tests that would have caught it fail against the old code.</a:t>
            </a:r>
          </a:p>
          <a:p/>
          <a:p>
            <a:r>
              <a:t>And a server written by a fresh model from our skill alone found one more gap in ours: nothing tied an ECR's LEI to its legal entity. Both are fixed.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you are about to see is real KERI and real ACDCs, issued through GLEIF's own schemas, with a revocation read from the issuer's transaction event log. The one thing I control is the root of trust, because I do not have a production vLEI. In production the chain terminates at GLEIF's root.</a:t>
            </a:r>
          </a:p>
          <a:p/>
          <a:p>
            <a:r>
              <a:t>One more thing while this slide is up. We did use GLEIF's verifier, and we found a defect in its revocation path that takes the service down. It is written up and ready to file.</a:t>
            </a:r>
          </a:p>
          <a:p/>
          <a:p>
            <a:r>
              <a:t>[Play demo-full.mp4, 2:50.]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Taiwan already runs this model — for people. The Digital Identity Wallet lets a person show only what a counter needs to see. And the MOEA business certificate already lets a company hand its authority to an employee, through an attached card; the ministry has announced the same on the phone, per site and per time limit.</a:t>
            </a:r>
          </a:p>
          <a:p/>
          <a:p>
            <a:r>
              <a:t>What neither does is the holder on the right: an agent acting for the entity. The certificate's own practice statement marks authenticating server software 'not applicable'. And it is domestic by design — but a Taiwanese company's LEI record already carries its unified business number, so the two meet at the same number. The Deputy Minister made the point this month: agents may need an ID.</a:t>
            </a:r>
          </a:p>
          <a:p/>
          <a:p>
            <a:r>
              <a:t>Same idea, a different holder — and one a counterparty abroad can verify.</a:t>
            </a:r>
          </a:p>
          <a:p/>
          <a:p>
            <a:r>
              <a:t>[Say "attached card" and, for the phone, "announced": MOEA's own release says the mobile delegation "will be provided" (將提供), and today every mobile certificate is itself an attached card. Do not say the business certificate is in the wallet — it has its own app, and its place in the wallet ecosystem is reported by the press, not shown. The finance, HR and sales example is CNA's reporting, not the ministry's release. GLEIF's data lists Taiwan as "Taiwan (Province of China)": put no GLEIF search page on screen. The Deputy Minister's words are as reported; say "made the 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Institutions already check identity two ways. A public directory: publish once, anyone verifies, even before making contact. And the letter of confirmation — office A writes to office B, B replies, A relies on the reply.</a:t>
            </a:r>
          </a:p>
          <a:p/>
          <a:p>
            <a:r>
              <a:t>As an agent call, B returns a signed attestation and A verifies B's signature: a second instead of days, a signature instead of a letterhead. The limit is today's: relying on an attestation means relying on that institution's judgment. The system insists only that the attesting institution was verified first, and records whose word it took.</a:t>
            </a:r>
          </a:p>
          <a:p/>
          <a:p>
            <a:r>
              <a:t>[來函確認 stays in Chinese on the slide on purpose: it is the name this room uses for the procedure, and recognising it is the point of the slide. Say it in English; let the slide say it in Chinese.]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stage is independently useful. An institution that stops after stage two has gained something real.</a:t>
            </a:r>
          </a:p>
          <a:p/>
          <a:p>
            <a:r>
              <a:t>Stage zero is the substantive one and it is not technical: the business unit defines its role vocabulary. Those names appear in every authorization decision and every audit record afterwards.</a:t>
            </a:r>
          </a:p>
          <a:p/>
          <a:p>
            <a:r>
              <a:t>Only stage three touches IT, and it is the one that decides whether this is a configuration change or a project. Verification goes at the gateway; the systems behind it read headers, as they already do.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row deserves emphasis, because it is the one most likely to be misread. This does not replace existing user authentication. vLEI answers which organization; your existing sign-on still answers which user. A high-value action should require both. An institution that drops one because it gained the other has weakened itself.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rather state these than be asked. A valid credential proves an organization asserted a role; it does not prove the request is legitimate — that policy stays yours.</a:t>
            </a:r>
          </a:p>
          <a:p/>
          <a:p>
            <a:r>
              <a:t>Two are ours to fix. We compare key logs across the witnesses we are given, but run no independent watcher. And withdrawing one agent without touching the person's credential is not built; withdrawing the credential works, and stops every agent under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the institutions here, first, because you would carry the risk: one procedure, one counterpart, stages zero to three, and no change to the system behind your gateway.</a:t>
            </a:r>
          </a:p>
          <a:p/>
          <a:p>
            <a:r>
              <a:t>To GLEIF: an ECR role vocabulary for agent contexts; a confirmation or correction of our delegation model against the Ecosystem Governance Framework — we would rather be corrected now than at deployment; and test credentials against a real root, so the honesty statement can be retired.</a:t>
            </a:r>
          </a:p>
          <a:p/>
          <a:p>
            <a:r>
              <a:t>To AAIF: this belongs in the Security Interest Group and the ext-auth discussion. I would like to be told where it is wrong.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in one repository, Apache licensed. The specification, the package, both skills, the reference implementations, the gateway configuration, the conformance table — and the defect report, because we used your verifier and we owe you that.</a:t>
            </a:r>
          </a:p>
          <a:p/>
          <a:p>
            <a:r>
              <a:t>Thank you. I have time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1737360"/>
            <a:ext cx="10454335" cy="1320800"/>
          </a:xfrm>
          <a:prstGeom prst="rect">
            <a:avLst/>
          </a:prstGeom>
          <a:noFill/>
        </p:spPr>
        <p:txBody>
          <a:bodyPr wrap="square" anchor="t" lIns="0" rIns="0" tIns="0" bIns="0">
            <a:spAutoFit/>
          </a:bodyPr>
          <a:lstStyle/>
          <a:p>
            <a:pPr algn="l">
              <a:lnSpc>
                <a:spcPts val="5200"/>
              </a:lnSpc>
            </a:pPr>
            <a:r>
              <a:rPr sz="4400" b="0" i="0">
                <a:solidFill>
                  <a:srgbClr val="1E1B16"/>
                </a:solidFill>
                <a:latin typeface="Georgia"/>
              </a:rPr>
              <a:t>Organizational Identity</a:t>
            </a:r>
          </a:p>
          <a:p>
            <a:pPr>
              <a:lnSpc>
                <a:spcPts val="5200"/>
              </a:lnSpc>
            </a:pPr>
            <a:r>
              <a:rPr sz="4400" b="0" i="0">
                <a:solidFill>
                  <a:srgbClr val="1E1B16"/>
                </a:solidFill>
                <a:latin typeface="Georgia"/>
              </a:rPr>
              <a:t>for MCP Agents</a:t>
            </a:r>
          </a:p>
        </p:txBody>
      </p:sp>
      <p:sp>
        <p:nvSpPr>
          <p:cNvPr id="3" name="TextBox 2"/>
          <p:cNvSpPr txBox="1"/>
          <p:nvPr/>
        </p:nvSpPr>
        <p:spPr>
          <a:xfrm>
            <a:off x="868680" y="3332480"/>
            <a:ext cx="10454335" cy="457200"/>
          </a:xfrm>
          <a:prstGeom prst="rect">
            <a:avLst/>
          </a:prstGeom>
          <a:noFill/>
        </p:spPr>
        <p:txBody>
          <a:bodyPr wrap="square" anchor="t" lIns="0" rIns="0" tIns="0" bIns="0">
            <a:spAutoFit/>
          </a:bodyPr>
          <a:lstStyle/>
          <a:p>
            <a:pPr algn="l"/>
            <a:r>
              <a:rPr sz="1900" b="0" i="0">
                <a:solidFill>
                  <a:srgbClr val="2E5D89"/>
                </a:solidFill>
                <a:latin typeface="Segoe UI"/>
              </a:rPr>
              <a:t>vLEI × Model Context Protocol</a:t>
            </a:r>
          </a:p>
        </p:txBody>
      </p:sp>
      <p:sp>
        <p:nvSpPr>
          <p:cNvPr id="4" name="Rectangle 3"/>
          <p:cNvSpPr/>
          <p:nvPr/>
        </p:nvSpPr>
        <p:spPr>
          <a:xfrm>
            <a:off x="868680" y="4045712"/>
            <a:ext cx="2011680" cy="27432"/>
          </a:xfrm>
          <a:prstGeom prst="rect">
            <a:avLst/>
          </a:prstGeom>
          <a:solidFill>
            <a:srgbClr val="2E5D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429760"/>
            <a:ext cx="8991295" cy="914400"/>
          </a:xfrm>
          <a:prstGeom prst="rect">
            <a:avLst/>
          </a:prstGeom>
          <a:noFill/>
        </p:spPr>
        <p:txBody>
          <a:bodyPr wrap="square" anchor="t" lIns="0" rIns="0" tIns="0" bIns="0">
            <a:spAutoFit/>
          </a:bodyPr>
          <a:lstStyle/>
          <a:p>
            <a:pPr algn="l">
              <a:spcAft>
                <a:spcPts val="600"/>
              </a:spcAft>
            </a:pPr>
            <a:r>
              <a:rPr sz="1400" b="0" i="0">
                <a:solidFill>
                  <a:srgbClr val="6E6658"/>
                </a:solidFill>
                <a:latin typeface="Segoe UI"/>
              </a:rPr>
              <a:t>An additive extension: org.gleif.vlei/identity</a:t>
            </a:r>
          </a:p>
          <a:p>
            <a:pPr>
              <a:spcAft>
                <a:spcPts val="600"/>
              </a:spcAft>
            </a:pPr>
            <a:r>
              <a:rPr sz="1400" b="0" i="0">
                <a:solidFill>
                  <a:srgbClr val="6E6658"/>
                </a:solidFill>
                <a:latin typeface="Consolas"/>
              </a:rPr>
              <a:t>github.com/zuemen/mcp-vlei · Apache 2.0</a:t>
            </a:r>
          </a:p>
        </p:txBody>
      </p:sp>
      <p:pic>
        <p:nvPicPr>
          <p:cNvPr id="6" name="Picture 5" descr="image.png"/>
          <p:cNvPicPr>
            <a:picLocks noChangeAspect="1"/>
          </p:cNvPicPr>
          <p:nvPr/>
        </p:nvPicPr>
        <p:blipFill>
          <a:blip r:embed="rId3"/>
          <a:stretch>
            <a:fillRect/>
          </a:stretch>
        </p:blipFill>
        <p:spPr>
          <a:xfrm>
            <a:off x="10271455" y="4429760"/>
            <a:ext cx="1051560" cy="10515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THE STACK TODAY</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What MCP verifies</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68680" y="2624328"/>
          <a:ext cx="10454333" cy="2523744"/>
        </p:xfrm>
        <a:graphic>
          <a:graphicData uri="http://schemas.openxmlformats.org/drawingml/2006/table">
            <a:tbl>
              <a:tblPr firstRow="1" bandRow="1">
                <a:tableStyleId>{2D5ABB26-0587-4C30-8999-92F81FD0307C}</a:tableStyleId>
              </a:tblPr>
              <a:tblGrid>
                <a:gridCol w="2299953"/>
                <a:gridCol w="4077190"/>
                <a:gridCol w="4077190"/>
              </a:tblGrid>
              <a:tr h="420624">
                <a:tc>
                  <a:txBody>
                    <a:bodyPr wrap="square"/>
                    <a:lstStyle/>
                    <a:p>
                      <a:r>
                        <a:rPr sz="1100" b="1" i="0" spc="120">
                          <a:solidFill>
                            <a:srgbClr val="2E5D89"/>
                          </a:solidFill>
                          <a:latin typeface="Segoe UI"/>
                        </a:rPr>
                        <a:t>LAYER</a:t>
                      </a:r>
                    </a:p>
                  </a:txBody>
                  <a:tcPr>
                    <a:lnL w="0">
                      <a:noFill/>
                    </a:lnL>
                    <a:lnR w="0">
                      <a:noFill/>
                    </a:lnR>
                    <a:lnT w="0">
                      <a:noFill/>
                    </a:lnT>
                    <a:lnB w="9525">
                      <a:solidFill>
                        <a:srgbClr val="DCD6C8"/>
                      </a:solidFill>
                    </a:lnB>
                    <a:solidFill>
                      <a:srgbClr val="F7F5EF"/>
                    </a:solidFill>
                  </a:tcPr>
                </a:tc>
                <a:tc>
                  <a:txBody>
                    <a:bodyPr wrap="square"/>
                    <a:lstStyle/>
                    <a:p>
                      <a:r>
                        <a:rPr sz="1100" b="1" i="0" spc="120">
                          <a:solidFill>
                            <a:srgbClr val="2E5D89"/>
                          </a:solidFill>
                          <a:latin typeface="Segoe UI"/>
                        </a:rPr>
                        <a:t>WHAT IT PROVES</a:t>
                      </a:r>
                    </a:p>
                  </a:txBody>
                  <a:tcPr>
                    <a:lnL w="0">
                      <a:noFill/>
                    </a:lnL>
                    <a:lnR w="0">
                      <a:noFill/>
                    </a:lnR>
                    <a:lnT w="0">
                      <a:noFill/>
                    </a:lnT>
                    <a:lnB w="9525">
                      <a:solidFill>
                        <a:srgbClr val="DCD6C8"/>
                      </a:solidFill>
                    </a:lnB>
                    <a:solidFill>
                      <a:srgbClr val="F7F5EF"/>
                    </a:solidFill>
                  </a:tcPr>
                </a:tc>
                <a:tc>
                  <a:txBody>
                    <a:bodyPr wrap="square"/>
                    <a:lstStyle/>
                    <a:p>
                      <a:r>
                        <a:rPr sz="1100" b="1" i="0" spc="120">
                          <a:solidFill>
                            <a:srgbClr val="2E5D89"/>
                          </a:solidFill>
                          <a:latin typeface="Segoe UI"/>
                        </a:rPr>
                        <a:t>WHAT IT DOES NOT</a:t>
                      </a:r>
                    </a:p>
                  </a:txBody>
                  <a:tcPr>
                    <a:lnL w="0">
                      <a:noFill/>
                    </a:lnL>
                    <a:lnR w="0">
                      <a:noFill/>
                    </a:lnR>
                    <a:lnT w="0">
                      <a:noFill/>
                    </a:lnT>
                    <a:lnB w="9525">
                      <a:solidFill>
                        <a:srgbClr val="DCD6C8"/>
                      </a:solidFill>
                    </a:lnB>
                    <a:solidFill>
                      <a:srgbClr val="F7F5EF"/>
                    </a:solidFill>
                  </a:tcPr>
                </a:tc>
              </a:tr>
              <a:tr h="420624">
                <a:tc>
                  <a:txBody>
                    <a:bodyPr wrap="square"/>
                    <a:lstStyle/>
                    <a:p>
                      <a:r>
                        <a:rPr sz="1400" b="0" i="0">
                          <a:solidFill>
                            <a:srgbClr val="1E1B16"/>
                          </a:solidFill>
                          <a:latin typeface="Segoe UI"/>
                        </a:rPr>
                        <a:t>TLS</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Control of a domain name</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C0392B"/>
                          </a:solidFill>
                          <a:latin typeface="Segoe UI"/>
                        </a:rPr>
                        <a:t>— Which legal entity</a:t>
                      </a:r>
                    </a:p>
                  </a:txBody>
                  <a:tcPr anchor="ctr">
                    <a:lnL w="0">
                      <a:noFill/>
                    </a:lnL>
                    <a:lnR w="0">
                      <a:noFill/>
                    </a:lnR>
                    <a:lnT w="0">
                      <a:noFill/>
                    </a:lnT>
                    <a:lnB w="9525">
                      <a:solidFill>
                        <a:srgbClr val="DCD6C8"/>
                      </a:solidFill>
                    </a:lnB>
                    <a:solidFill>
                      <a:srgbClr val="F7F5EF"/>
                    </a:solidFill>
                  </a:tcPr>
                </a:tc>
              </a:tr>
              <a:tr h="420624">
                <a:tc>
                  <a:txBody>
                    <a:bodyPr wrap="square"/>
                    <a:lstStyle/>
                    <a:p>
                      <a:r>
                        <a:rPr sz="1400" b="0" i="0">
                          <a:solidFill>
                            <a:srgbClr val="1E1B16"/>
                          </a:solidFill>
                          <a:latin typeface="Segoe UI"/>
                        </a:rPr>
                        <a:t>OAuth iss</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Which authorization server</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C0392B"/>
                          </a:solidFill>
                          <a:latin typeface="Segoe UI"/>
                        </a:rPr>
                        <a:t>— Which legal entity</a:t>
                      </a:r>
                    </a:p>
                  </a:txBody>
                  <a:tcPr anchor="ctr">
                    <a:lnL w="0">
                      <a:noFill/>
                    </a:lnL>
                    <a:lnR w="0">
                      <a:noFill/>
                    </a:lnR>
                    <a:lnT w="0">
                      <a:noFill/>
                    </a:lnT>
                    <a:lnB w="9525">
                      <a:solidFill>
                        <a:srgbClr val="DCD6C8"/>
                      </a:solidFill>
                    </a:lnB>
                    <a:solidFill>
                      <a:srgbClr val="F7F5EF"/>
                    </a:solidFill>
                  </a:tcPr>
                </a:tc>
              </a:tr>
              <a:tr h="420624">
                <a:tc>
                  <a:txBody>
                    <a:bodyPr wrap="square"/>
                    <a:lstStyle/>
                    <a:p>
                      <a:r>
                        <a:rPr sz="1400" b="0" i="0">
                          <a:solidFill>
                            <a:srgbClr val="1E1B16"/>
                          </a:solidFill>
                          <a:latin typeface="Segoe UI"/>
                        </a:rPr>
                        <a:t>OAuth client_id</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Control of a metadata URL</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C0392B"/>
                          </a:solidFill>
                          <a:latin typeface="Segoe UI"/>
                        </a:rPr>
                        <a:t>— Which legal entity</a:t>
                      </a:r>
                    </a:p>
                  </a:txBody>
                  <a:tcPr anchor="ctr">
                    <a:lnL w="0">
                      <a:noFill/>
                    </a:lnL>
                    <a:lnR w="0">
                      <a:noFill/>
                    </a:lnR>
                    <a:lnT w="0">
                      <a:noFill/>
                    </a:lnT>
                    <a:lnB w="9525">
                      <a:solidFill>
                        <a:srgbClr val="DCD6C8"/>
                      </a:solidFill>
                    </a:lnB>
                    <a:solidFill>
                      <a:srgbClr val="F7F5EF"/>
                    </a:solidFill>
                  </a:tcPr>
                </a:tc>
              </a:tr>
              <a:tr h="420624">
                <a:tc>
                  <a:txBody>
                    <a:bodyPr wrap="square"/>
                    <a:lstStyle/>
                    <a:p>
                      <a:r>
                        <a:rPr sz="1400" b="0" i="0">
                          <a:solidFill>
                            <a:srgbClr val="1E1B16"/>
                          </a:solidFill>
                          <a:latin typeface="Segoe UI"/>
                        </a:rPr>
                        <a:t>OAuth sub</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Which human user</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C0392B"/>
                          </a:solidFill>
                          <a:latin typeface="Segoe UI"/>
                        </a:rPr>
                        <a:t>— Which organization they bind</a:t>
                      </a:r>
                    </a:p>
                  </a:txBody>
                  <a:tcPr anchor="ctr">
                    <a:lnL w="0">
                      <a:noFill/>
                    </a:lnL>
                    <a:lnR w="0">
                      <a:noFill/>
                    </a:lnR>
                    <a:lnT w="0">
                      <a:noFill/>
                    </a:lnT>
                    <a:lnB w="9525">
                      <a:solidFill>
                        <a:srgbClr val="DCD6C8"/>
                      </a:solidFill>
                    </a:lnB>
                    <a:solidFill>
                      <a:srgbClr val="F7F5EF"/>
                    </a:solidFill>
                  </a:tcPr>
                </a:tc>
              </a:tr>
              <a:tr h="420624">
                <a:tc>
                  <a:txBody>
                    <a:bodyPr wrap="square"/>
                    <a:lstStyle/>
                    <a:p>
                      <a:r>
                        <a:rPr sz="1400" b="0" i="0">
                          <a:solidFill>
                            <a:srgbClr val="1E1B16"/>
                          </a:solidFill>
                          <a:latin typeface="Consolas"/>
                        </a:rPr>
                        <a:t>clientInfo</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Nothing. It is self-asserted</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C0392B"/>
                          </a:solidFill>
                          <a:latin typeface="Segoe UI"/>
                        </a:rPr>
                        <a:t>— MUST NOT be used for security</a:t>
                      </a:r>
                    </a:p>
                  </a:txBody>
                  <a:tcPr anchor="ctr">
                    <a:lnL w="0">
                      <a:noFill/>
                    </a:lnL>
                    <a:lnR w="0">
                      <a:noFill/>
                    </a:lnR>
                    <a:lnT w="0">
                      <a:noFill/>
                    </a:lnT>
                    <a:lnB w="9525">
                      <a:solidFill>
                        <a:srgbClr val="DCD6C8"/>
                      </a:solidFill>
                    </a:lnB>
                    <a:solidFill>
                      <a:srgbClr val="F7F5EF"/>
                    </a:solidFill>
                  </a:tcPr>
                </a:tc>
              </a:tr>
            </a:tbl>
          </a:graphicData>
        </a:graphic>
      </p:graphicFrame>
      <p:sp>
        <p:nvSpPr>
          <p:cNvPr id="6" name="TextBox 5"/>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6E6658"/>
                </a:solidFill>
                <a:latin typeface="Georgia"/>
              </a:rPr>
              <a:t>Domain control, domain control, domain control, human user.</a:t>
            </a:r>
          </a:p>
        </p:txBody>
      </p:sp>
      <p:sp>
        <p:nvSpPr>
          <p:cNvPr id="7" name="TextBox 6"/>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MEASURED, NOT ASSERTED</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The measurement</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68680" y="3044952"/>
          <a:ext cx="6248093" cy="1682496"/>
        </p:xfrm>
        <a:graphic>
          <a:graphicData uri="http://schemas.openxmlformats.org/drawingml/2006/table">
            <a:tbl>
              <a:tblPr firstRow="1" bandRow="1">
                <a:tableStyleId>{2D5ABB26-0587-4C30-8999-92F81FD0307C}</a:tableStyleId>
              </a:tblPr>
              <a:tblGrid>
                <a:gridCol w="1874428"/>
                <a:gridCol w="2624199"/>
                <a:gridCol w="1749466"/>
              </a:tblGrid>
              <a:tr h="420624">
                <a:tc>
                  <a:txBody>
                    <a:bodyPr wrap="square"/>
                    <a:lstStyle/>
                    <a:p>
                      <a:r>
                        <a:rPr sz="1100" b="1" i="0" spc="120">
                          <a:solidFill>
                            <a:srgbClr val="2E5D89"/>
                          </a:solidFill>
                          <a:latin typeface="Segoe UI"/>
                        </a:rPr>
                        <a:t>RUN</a:t>
                      </a:r>
                    </a:p>
                  </a:txBody>
                  <a:tcPr>
                    <a:lnL w="0">
                      <a:noFill/>
                    </a:lnL>
                    <a:lnR w="0">
                      <a:noFill/>
                    </a:lnR>
                    <a:lnT w="0">
                      <a:noFill/>
                    </a:lnT>
                    <a:lnB w="9525">
                      <a:solidFill>
                        <a:srgbClr val="DCD6C8"/>
                      </a:solidFill>
                    </a:lnB>
                    <a:solidFill>
                      <a:srgbClr val="F7F5EF"/>
                    </a:solidFill>
                  </a:tcPr>
                </a:tc>
                <a:tc>
                  <a:txBody>
                    <a:bodyPr wrap="square"/>
                    <a:lstStyle/>
                    <a:p>
                      <a:r>
                        <a:rPr sz="1100" b="1" i="0" spc="120">
                          <a:solidFill>
                            <a:srgbClr val="2E5D89"/>
                          </a:solidFill>
                          <a:latin typeface="Segoe UI"/>
                        </a:rPr>
                        <a:t>NAME RECEIVED</a:t>
                      </a:r>
                    </a:p>
                  </a:txBody>
                  <a:tcPr>
                    <a:lnL w="0">
                      <a:noFill/>
                    </a:lnL>
                    <a:lnR w="0">
                      <a:noFill/>
                    </a:lnR>
                    <a:lnT w="0">
                      <a:noFill/>
                    </a:lnT>
                    <a:lnB w="9525">
                      <a:solidFill>
                        <a:srgbClr val="DCD6C8"/>
                      </a:solidFill>
                    </a:lnB>
                    <a:solidFill>
                      <a:srgbClr val="F7F5EF"/>
                    </a:solidFill>
                  </a:tcPr>
                </a:tc>
                <a:tc>
                  <a:txBody>
                    <a:bodyPr wrap="square"/>
                    <a:lstStyle/>
                    <a:p>
                      <a:r>
                        <a:rPr sz="1100" b="1" i="0" spc="120">
                          <a:solidFill>
                            <a:srgbClr val="2E5D89"/>
                          </a:solidFill>
                          <a:latin typeface="Segoe UI"/>
                        </a:rPr>
                        <a:t>APPROVED</a:t>
                      </a:r>
                    </a:p>
                  </a:txBody>
                  <a:tcPr>
                    <a:lnL w="0">
                      <a:noFill/>
                    </a:lnL>
                    <a:lnR w="0">
                      <a:noFill/>
                    </a:lnR>
                    <a:lnT w="0">
                      <a:noFill/>
                    </a:lnT>
                    <a:lnB w="9525">
                      <a:solidFill>
                        <a:srgbClr val="DCD6C8"/>
                      </a:solidFill>
                    </a:lnB>
                    <a:solidFill>
                      <a:srgbClr val="F7F5EF"/>
                    </a:solidFill>
                  </a:tcPr>
                </a:tc>
              </a:tr>
              <a:tr h="420624">
                <a:tc>
                  <a:txBody>
                    <a:bodyPr wrap="square"/>
                    <a:lstStyle/>
                    <a:p>
                      <a:r>
                        <a:rPr sz="1500" b="0" i="0">
                          <a:solidFill>
                            <a:srgbClr val="1E1B16"/>
                          </a:solidFill>
                          <a:latin typeface="Segoe UI"/>
                        </a:rPr>
                        <a:t>Honest</a:t>
                      </a:r>
                    </a:p>
                  </a:txBody>
                  <a:tcPr anchor="ctr">
                    <a:lnL w="0">
                      <a:noFill/>
                    </a:lnL>
                    <a:lnR w="0">
                      <a:noFill/>
                    </a:lnR>
                    <a:lnT w="0">
                      <a:noFill/>
                    </a:lnT>
                    <a:lnB w="9525">
                      <a:solidFill>
                        <a:srgbClr val="DCD6C8"/>
                      </a:solidFill>
                    </a:lnB>
                    <a:solidFill>
                      <a:srgbClr val="F7F5EF"/>
                    </a:solidFill>
                  </a:tcPr>
                </a:tc>
                <a:tc>
                  <a:txBody>
                    <a:bodyPr wrap="square"/>
                    <a:lstStyle/>
                    <a:p>
                      <a:r>
                        <a:rPr sz="1500" b="0" i="0">
                          <a:solidFill>
                            <a:srgbClr val="1E1B16"/>
                          </a:solidFill>
                          <a:latin typeface="Consolas"/>
                        </a:rPr>
                        <a:t>zuemen-script</a:t>
                      </a:r>
                    </a:p>
                  </a:txBody>
                  <a:tcPr anchor="ctr">
                    <a:lnL w="0">
                      <a:noFill/>
                    </a:lnL>
                    <a:lnR w="0">
                      <a:noFill/>
                    </a:lnR>
                    <a:lnT w="0">
                      <a:noFill/>
                    </a:lnT>
                    <a:lnB w="9525">
                      <a:solidFill>
                        <a:srgbClr val="DCD6C8"/>
                      </a:solidFill>
                    </a:lnB>
                    <a:solidFill>
                      <a:srgbClr val="F7F5EF"/>
                    </a:solidFill>
                  </a:tcPr>
                </a:tc>
                <a:tc>
                  <a:txBody>
                    <a:bodyPr wrap="square"/>
                    <a:lstStyle/>
                    <a:p>
                      <a:r>
                        <a:rPr sz="1500" b="0" i="0">
                          <a:solidFill>
                            <a:srgbClr val="1E1B16"/>
                          </a:solidFill>
                          <a:latin typeface="Segoe UI"/>
                        </a:rPr>
                        <a:t>1 hour</a:t>
                      </a:r>
                    </a:p>
                  </a:txBody>
                  <a:tcPr anchor="ctr">
                    <a:lnL w="0">
                      <a:noFill/>
                    </a:lnL>
                    <a:lnR w="0">
                      <a:noFill/>
                    </a:lnR>
                    <a:lnT w="0">
                      <a:noFill/>
                    </a:lnT>
                    <a:lnB w="9525">
                      <a:solidFill>
                        <a:srgbClr val="DCD6C8"/>
                      </a:solidFill>
                    </a:lnB>
                    <a:solidFill>
                      <a:srgbClr val="F7F5EF"/>
                    </a:solidFill>
                  </a:tcPr>
                </a:tc>
              </a:tr>
              <a:tr h="420624">
                <a:tc>
                  <a:txBody>
                    <a:bodyPr wrap="square"/>
                    <a:lstStyle/>
                    <a:p>
                      <a:r>
                        <a:rPr sz="1500" b="0" i="0">
                          <a:solidFill>
                            <a:srgbClr val="1E1B16"/>
                          </a:solidFill>
                          <a:latin typeface="Segoe UI"/>
                        </a:rPr>
                        <a:t>Spoofed</a:t>
                      </a:r>
                    </a:p>
                  </a:txBody>
                  <a:tcPr anchor="ctr">
                    <a:lnL w="0">
                      <a:noFill/>
                    </a:lnL>
                    <a:lnR w="0">
                      <a:noFill/>
                    </a:lnR>
                    <a:lnT w="0">
                      <a:noFill/>
                    </a:lnT>
                    <a:lnB w="9525">
                      <a:solidFill>
                        <a:srgbClr val="DCD6C8"/>
                      </a:solidFill>
                    </a:lnB>
                    <a:solidFill>
                      <a:srgbClr val="F7F5EF"/>
                    </a:solidFill>
                  </a:tcPr>
                </a:tc>
                <a:tc>
                  <a:txBody>
                    <a:bodyPr wrap="square"/>
                    <a:lstStyle/>
                    <a:p>
                      <a:r>
                        <a:rPr sz="1500" b="0" i="0">
                          <a:solidFill>
                            <a:srgbClr val="1E1B16"/>
                          </a:solidFill>
                          <a:latin typeface="Consolas"/>
                        </a:rPr>
                        <a:t>Claude Desktop</a:t>
                      </a:r>
                    </a:p>
                  </a:txBody>
                  <a:tcPr anchor="ctr">
                    <a:lnL w="0">
                      <a:noFill/>
                    </a:lnL>
                    <a:lnR w="0">
                      <a:noFill/>
                    </a:lnR>
                    <a:lnT w="0">
                      <a:noFill/>
                    </a:lnT>
                    <a:lnB w="9525">
                      <a:solidFill>
                        <a:srgbClr val="DCD6C8"/>
                      </a:solidFill>
                    </a:lnB>
                    <a:solidFill>
                      <a:srgbClr val="F7F5EF"/>
                    </a:solidFill>
                  </a:tcPr>
                </a:tc>
                <a:tc>
                  <a:txBody>
                    <a:bodyPr wrap="square"/>
                    <a:lstStyle/>
                    <a:p>
                      <a:r>
                        <a:rPr sz="1500" b="0" i="0">
                          <a:solidFill>
                            <a:srgbClr val="1E1B16"/>
                          </a:solidFill>
                          <a:latin typeface="Segoe UI"/>
                        </a:rPr>
                        <a:t>50 hours</a:t>
                      </a:r>
                    </a:p>
                  </a:txBody>
                  <a:tcPr anchor="ctr">
                    <a:lnL w="0">
                      <a:noFill/>
                    </a:lnL>
                    <a:lnR w="0">
                      <a:noFill/>
                    </a:lnR>
                    <a:lnT w="0">
                      <a:noFill/>
                    </a:lnT>
                    <a:lnB w="9525">
                      <a:solidFill>
                        <a:srgbClr val="DCD6C8"/>
                      </a:solidFill>
                    </a:lnB>
                    <a:solidFill>
                      <a:srgbClr val="F7F5EF"/>
                    </a:solidFill>
                  </a:tcPr>
                </a:tc>
              </a:tr>
              <a:tr h="420624">
                <a:tc>
                  <a:txBody>
                    <a:bodyPr wrap="square"/>
                    <a:lstStyle/>
                    <a:p>
                      <a:r>
                        <a:rPr sz="1500" b="0" i="0">
                          <a:solidFill>
                            <a:srgbClr val="1E1B16"/>
                          </a:solidFill>
                          <a:latin typeface="Segoe UI"/>
                        </a:rPr>
                        <a:t>Omitted</a:t>
                      </a:r>
                    </a:p>
                  </a:txBody>
                  <a:tcPr anchor="ctr">
                    <a:lnL w="0">
                      <a:noFill/>
                    </a:lnL>
                    <a:lnR w="0">
                      <a:noFill/>
                    </a:lnR>
                    <a:lnT w="0">
                      <a:noFill/>
                    </a:lnT>
                    <a:lnB w="9525">
                      <a:solidFill>
                        <a:srgbClr val="DCD6C8"/>
                      </a:solidFill>
                    </a:lnB>
                    <a:solidFill>
                      <a:srgbClr val="F7F5EF"/>
                    </a:solidFill>
                  </a:tcPr>
                </a:tc>
                <a:tc>
                  <a:txBody>
                    <a:bodyPr wrap="square"/>
                    <a:lstStyle/>
                    <a:p>
                      <a:r>
                        <a:rPr sz="1500" b="0" i="0">
                          <a:solidFill>
                            <a:srgbClr val="1E1B16"/>
                          </a:solidFill>
                          <a:latin typeface="Consolas"/>
                        </a:rPr>
                        <a:t>mcp</a:t>
                      </a:r>
                    </a:p>
                  </a:txBody>
                  <a:tcPr anchor="ctr">
                    <a:lnL w="0">
                      <a:noFill/>
                    </a:lnL>
                    <a:lnR w="0">
                      <a:noFill/>
                    </a:lnR>
                    <a:lnT w="0">
                      <a:noFill/>
                    </a:lnT>
                    <a:lnB w="9525">
                      <a:solidFill>
                        <a:srgbClr val="DCD6C8"/>
                      </a:solidFill>
                    </a:lnB>
                    <a:solidFill>
                      <a:srgbClr val="F7F5EF"/>
                    </a:solidFill>
                  </a:tcPr>
                </a:tc>
                <a:tc>
                  <a:txBody>
                    <a:bodyPr wrap="square"/>
                    <a:lstStyle/>
                    <a:p>
                      <a:r>
                        <a:rPr sz="1500" b="0" i="0">
                          <a:solidFill>
                            <a:srgbClr val="1E1B16"/>
                          </a:solidFill>
                          <a:latin typeface="Segoe UI"/>
                        </a:rPr>
                        <a:t>1 hour</a:t>
                      </a:r>
                    </a:p>
                  </a:txBody>
                  <a:tcPr anchor="ctr">
                    <a:lnL w="0">
                      <a:noFill/>
                    </a:lnL>
                    <a:lnR w="0">
                      <a:noFill/>
                    </a:lnR>
                    <a:lnT w="0">
                      <a:noFill/>
                    </a:lnT>
                    <a:lnB w="9525">
                      <a:solidFill>
                        <a:srgbClr val="DCD6C8"/>
                      </a:solidFill>
                    </a:lnB>
                    <a:solidFill>
                      <a:srgbClr val="F7F5EF"/>
                    </a:solidFill>
                  </a:tcPr>
                </a:tc>
              </a:tr>
            </a:tbl>
          </a:graphicData>
        </a:graphic>
      </p:graphicFrame>
      <p:pic>
        <p:nvPicPr>
          <p:cNvPr id="6" name="Picture 5" descr="scene-0-verification.png"/>
          <p:cNvPicPr>
            <a:picLocks noChangeAspect="1"/>
          </p:cNvPicPr>
          <p:nvPr/>
        </p:nvPicPr>
        <p:blipFill>
          <a:blip r:embed="rId3"/>
          <a:stretch>
            <a:fillRect/>
          </a:stretch>
        </p:blipFill>
        <p:spPr>
          <a:xfrm>
            <a:off x="7646203" y="1975104"/>
            <a:ext cx="3513144" cy="3474720"/>
          </a:xfrm>
          <a:prstGeom prst="rect">
            <a:avLst/>
          </a:prstGeom>
          <a:ln w="9525">
            <a:solidFill>
              <a:srgbClr val="DCD6C8"/>
            </a:solidFill>
          </a:ln>
        </p:spPr>
      </p:pic>
      <p:sp>
        <p:nvSpPr>
          <p:cNvPr id="7" name="TextBox 6"/>
          <p:cNvSpPr txBox="1"/>
          <p:nvPr/>
        </p:nvSpPr>
        <p:spPr>
          <a:xfrm>
            <a:off x="7646203" y="5541264"/>
            <a:ext cx="3513144" cy="274320"/>
          </a:xfrm>
          <a:prstGeom prst="rect">
            <a:avLst/>
          </a:prstGeom>
          <a:noFill/>
        </p:spPr>
        <p:txBody>
          <a:bodyPr wrap="square" anchor="t" lIns="0" rIns="0" tIns="0" bIns="0">
            <a:spAutoFit/>
          </a:bodyPr>
          <a:lstStyle/>
          <a:p>
            <a:pPr algn="l"/>
            <a:r>
              <a:rPr sz="1000" b="0" i="0">
                <a:solidFill>
                  <a:srgbClr val="6E6658"/>
                </a:solidFill>
                <a:latin typeface="Segoe UI"/>
              </a:rPr>
              <a:t>Scene 0 · nothing to check, and 50 hours granted</a:t>
            </a:r>
          </a:p>
        </p:txBody>
      </p:sp>
      <p:sp>
        <p:nvSpPr>
          <p:cNvPr id="8" name="TextBox 7"/>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6E6658"/>
                </a:solidFill>
                <a:latin typeface="Georgia"/>
              </a:rPr>
              <a:t>One binary, one variable. The server's policy deliberately violates the specification — that is the experiment.</a:t>
            </a:r>
          </a:p>
        </p:txBody>
      </p:sp>
      <p:sp>
        <p:nvSpPr>
          <p:cNvPr id="9" name="TextBox 8"/>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THE PROTOCOL ITSELF</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The agent is absent from the protocol</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164842"/>
            <a:ext cx="10454335" cy="3442716"/>
          </a:xfrm>
          <a:prstGeom prst="rect">
            <a:avLst/>
          </a:prstGeom>
          <a:solidFill>
            <a:srgbClr val="EFE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1288" y="2457450"/>
            <a:ext cx="9869119" cy="2857500"/>
          </a:xfrm>
          <a:prstGeom prst="rect">
            <a:avLst/>
          </a:prstGeom>
          <a:noFill/>
        </p:spPr>
        <p:txBody>
          <a:bodyPr wrap="square" anchor="t" lIns="0" rIns="0" tIns="0" bIns="0">
            <a:spAutoFit/>
          </a:bodyPr>
          <a:lstStyle/>
          <a:p>
            <a:pPr algn="l">
              <a:spcAft>
                <a:spcPts val="300"/>
              </a:spcAft>
            </a:pPr>
            <a:r>
              <a:rPr sz="1500" b="0" i="0">
                <a:solidFill>
                  <a:srgbClr val="1E1B16"/>
                </a:solidFill>
                <a:latin typeface="Consolas"/>
              </a:rPr>
              <a:t>schema.ts · revision 2026-07-28 · 3,197 lines</a:t>
            </a:r>
          </a:p>
          <a:p>
            <a:pPr>
              <a:spcAft>
                <a:spcPts val="300"/>
              </a:spcAft>
            </a:pPr>
            <a:r>
              <a:rPr sz="1500" b="0" i="0">
                <a:solidFill>
                  <a:srgbClr val="1E1B16"/>
                </a:solidFill>
                <a:latin typeface="Consolas"/>
              </a:rPr>
              <a:t/>
            </a:r>
          </a:p>
          <a:p>
            <a:pPr>
              <a:spcAft>
                <a:spcPts val="300"/>
              </a:spcAft>
            </a:pPr>
            <a:r>
              <a:rPr sz="1500" b="1" i="0">
                <a:solidFill>
                  <a:srgbClr val="2E5D89"/>
                </a:solidFill>
                <a:latin typeface="Consolas"/>
              </a:rPr>
              <a:t>   agent        0 occurrences</a:t>
            </a:r>
          </a:p>
          <a:p>
            <a:pPr>
              <a:spcAft>
                <a:spcPts val="300"/>
              </a:spcAft>
            </a:pPr>
            <a:r>
              <a:rPr sz="1500" b="1" i="0">
                <a:solidFill>
                  <a:srgbClr val="2E5D89"/>
                </a:solidFill>
                <a:latin typeface="Consolas"/>
              </a:rPr>
              <a:t>   principal    0 occurrences</a:t>
            </a:r>
          </a:p>
          <a:p>
            <a:pPr>
              <a:spcAft>
                <a:spcPts val="300"/>
              </a:spcAft>
            </a:pPr>
            <a:r>
              <a:rPr sz="1500" b="1" i="0">
                <a:solidFill>
                  <a:srgbClr val="2E5D89"/>
                </a:solidFill>
                <a:latin typeface="Consolas"/>
              </a:rPr>
              <a:t>   delegation   0 occurrences</a:t>
            </a:r>
          </a:p>
          <a:p>
            <a:pPr>
              <a:spcAft>
                <a:spcPts val="300"/>
              </a:spcAft>
            </a:pPr>
            <a:r>
              <a:rPr sz="1500" b="1" i="0">
                <a:solidFill>
                  <a:srgbClr val="2E5D89"/>
                </a:solidFill>
                <a:latin typeface="Consolas"/>
              </a:rPr>
              <a:t>   mandate      0 occurrences</a:t>
            </a:r>
          </a:p>
          <a:p>
            <a:pPr>
              <a:spcAft>
                <a:spcPts val="300"/>
              </a:spcAft>
            </a:pPr>
            <a:r>
              <a:rPr sz="1500" b="0" i="0">
                <a:solidFill>
                  <a:srgbClr val="1E1B16"/>
                </a:solidFill>
                <a:latin typeface="Consolas"/>
              </a:rPr>
              <a:t/>
            </a:r>
          </a:p>
          <a:p>
            <a:pPr>
              <a:spcAft>
                <a:spcPts val="300"/>
              </a:spcAft>
            </a:pPr>
            <a:r>
              <a:rPr sz="1500" b="0" i="0">
                <a:solidFill>
                  <a:srgbClr val="1E1B16"/>
                </a:solidFill>
                <a:latin typeface="Consolas"/>
              </a:rPr>
              <a:t>   host         modelled</a:t>
            </a:r>
          </a:p>
          <a:p>
            <a:pPr>
              <a:spcAft>
                <a:spcPts val="300"/>
              </a:spcAft>
            </a:pPr>
            <a:r>
              <a:rPr sz="1500" b="0" i="0">
                <a:solidFill>
                  <a:srgbClr val="1E1B16"/>
                </a:solidFill>
                <a:latin typeface="Consolas"/>
              </a:rPr>
              <a:t>   client       modelled</a:t>
            </a:r>
          </a:p>
          <a:p>
            <a:pPr>
              <a:spcAft>
                <a:spcPts val="300"/>
              </a:spcAft>
            </a:pPr>
            <a:r>
              <a:rPr sz="1500" b="0" i="0">
                <a:solidFill>
                  <a:srgbClr val="1E1B16"/>
                </a:solidFill>
                <a:latin typeface="Consolas"/>
              </a:rPr>
              <a:t>   server       modelled</a:t>
            </a:r>
          </a:p>
        </p:txBody>
      </p:sp>
      <p:sp>
        <p:nvSpPr>
          <p:cNvPr id="7" name="TextBox 6"/>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1E1B16"/>
                </a:solidFill>
                <a:latin typeface="Georgia"/>
              </a:rPr>
              <a:t>It cannot be named, delegated to, constrained, or revoked — there is nothing there to name.</a:t>
            </a:r>
          </a:p>
        </p:txBody>
      </p:sp>
      <p:sp>
        <p:nvSpPr>
          <p:cNvPr id="8" name="TextBox 7"/>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READ IT FAIRLY</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This is a boundary, not a defect</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75104"/>
            <a:ext cx="10454335" cy="3822192"/>
          </a:xfrm>
          <a:prstGeom prst="rect">
            <a:avLst/>
          </a:prstGeom>
          <a:noFill/>
        </p:spPr>
        <p:txBody>
          <a:bodyPr wrap="square" anchor="ctr" lIns="0" rIns="0" tIns="0" bIns="0">
            <a:spAutoFit/>
          </a:bodyPr>
          <a:lstStyle/>
          <a:p>
            <a:pPr algn="l">
              <a:spcAft>
                <a:spcPts val="1600"/>
              </a:spcAft>
            </a:pPr>
            <a:r>
              <a:rPr sz="1900" b="1" i="0">
                <a:solidFill>
                  <a:srgbClr val="2E5D89"/>
                </a:solidFill>
                <a:latin typeface="Segoe UI"/>
              </a:rPr>
              <a:t>"MCP's trust model assumes a human in the loop"</a:t>
            </a:r>
            <a:r>
              <a:rPr sz="1900" b="0" i="0">
                <a:solidFill>
                  <a:srgbClr val="1E1B16"/>
                </a:solidFill>
                <a:latin typeface="Segoe UI"/>
              </a:rPr>
              <a:t> — the Tools chapter's warning box</a:t>
            </a:r>
          </a:p>
          <a:p>
            <a:pPr>
              <a:spcAft>
                <a:spcPts val="1600"/>
              </a:spcAft>
            </a:pPr>
            <a:r>
              <a:rPr sz="1900" b="1" i="0">
                <a:solidFill>
                  <a:srgbClr val="2E5D89"/>
                </a:solidFill>
                <a:latin typeface="Segoe UI"/>
              </a:rPr>
              <a:t>NSA, May 2026</a:t>
            </a:r>
            <a:r>
              <a:rPr sz="1900" b="0" i="0">
                <a:solidFill>
                  <a:srgbClr val="1E1B16"/>
                </a:solidFill>
                <a:latin typeface="Segoe UI"/>
              </a:rPr>
              <a:t> — MCP does not define how a session maps to a verifiable identity</a:t>
            </a:r>
          </a:p>
          <a:p>
            <a:pPr>
              <a:spcAft>
                <a:spcPts val="1600"/>
              </a:spcAft>
            </a:pPr>
            <a:r>
              <a:rPr sz="1900" b="1" i="0">
                <a:solidFill>
                  <a:srgbClr val="2E5D89"/>
                </a:solidFill>
                <a:latin typeface="Segoe UI"/>
              </a:rPr>
              <a:t>Security IG proposals</a:t>
            </a:r>
            <a:r>
              <a:rPr sz="1900" b="0" i="0">
                <a:solidFill>
                  <a:srgbClr val="1E1B16"/>
                </a:solidFill>
                <a:latin typeface="Segoe UI"/>
              </a:rPr>
              <a:t> — root in domain, DNS, or registry</a:t>
            </a:r>
          </a:p>
          <a:p>
            <a:pPr>
              <a:spcAft>
                <a:spcPts val="1600"/>
              </a:spcAft>
            </a:pPr>
            <a:r>
              <a:rPr sz="1900" b="1" i="0">
                <a:solidFill>
                  <a:srgbClr val="2E5D89"/>
                </a:solidFill>
                <a:latin typeface="Segoe UI"/>
              </a:rPr>
              <a:t>Those answer </a:t>
            </a:r>
            <a:r>
              <a:rPr sz="1900" b="0" i="0">
                <a:solidFill>
                  <a:srgbClr val="1E1B16"/>
                </a:solidFill>
                <a:latin typeface="Segoe UI"/>
              </a:rPr>
              <a:t>which deployment is this. None answers which legal entity is this.</a:t>
            </a:r>
          </a:p>
        </p:txBody>
      </p:sp>
      <p:sp>
        <p:nvSpPr>
          <p:cNvPr id="6" name="TextBox 5"/>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WHY THIS YEAR</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Why now</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75104"/>
            <a:ext cx="10454335" cy="3822192"/>
          </a:xfrm>
          <a:prstGeom prst="rect">
            <a:avLst/>
          </a:prstGeom>
          <a:noFill/>
        </p:spPr>
        <p:txBody>
          <a:bodyPr wrap="square" anchor="ctr" lIns="0" rIns="0" tIns="0" bIns="0">
            <a:spAutoFit/>
          </a:bodyPr>
          <a:lstStyle/>
          <a:p>
            <a:pPr algn="l">
              <a:spcAft>
                <a:spcPts val="2200"/>
              </a:spcAft>
            </a:pPr>
            <a:r>
              <a:rPr sz="2200" b="0" i="0">
                <a:solidFill>
                  <a:srgbClr val="1E1B16"/>
                </a:solidFill>
                <a:latin typeface="Segoe UI"/>
              </a:rPr>
              <a:t>Autonomous execution — no human at the point of action</a:t>
            </a:r>
          </a:p>
          <a:p>
            <a:pPr>
              <a:spcAft>
                <a:spcPts val="2200"/>
              </a:spcAft>
            </a:pPr>
            <a:r>
              <a:rPr sz="2200" b="0" i="0">
                <a:solidFill>
                  <a:srgbClr val="1E1B16"/>
                </a:solidFill>
                <a:latin typeface="Segoe UI"/>
              </a:rPr>
              <a:t>Actions with legal effect — a filing, a payment, a submission</a:t>
            </a:r>
          </a:p>
          <a:p>
            <a:pPr>
              <a:spcAft>
                <a:spcPts val="2200"/>
              </a:spcAft>
            </a:pPr>
            <a:r>
              <a:rPr sz="2200" b="0" i="0">
                <a:solidFill>
                  <a:srgbClr val="1E1B16"/>
                </a:solidFill>
                <a:latin typeface="Segoe UI"/>
              </a:rPr>
              <a:t>Across organizations — a counterparty that has never met the agent</a:t>
            </a:r>
          </a:p>
        </p:txBody>
      </p:sp>
      <p:sp>
        <p:nvSpPr>
          <p:cNvPr id="6" name="TextBox 5"/>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6E6658"/>
                </a:solidFill>
                <a:latin typeface="Georgia"/>
              </a:rPr>
              <a:t>Any one alone is survivable. Together they are not.</a:t>
            </a:r>
          </a:p>
        </p:txBody>
      </p:sp>
      <p:sp>
        <p:nvSpPr>
          <p:cNvPr id="7" name="TextBox 6"/>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NOT A NEW IDENTITY SYSTEM</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GLEIF already solved the identity half</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75104"/>
            <a:ext cx="10454335" cy="3822192"/>
          </a:xfrm>
          <a:prstGeom prst="rect">
            <a:avLst/>
          </a:prstGeom>
          <a:noFill/>
        </p:spPr>
        <p:txBody>
          <a:bodyPr wrap="square" anchor="ctr" lIns="0" rIns="0" tIns="0" bIns="0">
            <a:spAutoFit/>
          </a:bodyPr>
          <a:lstStyle/>
          <a:p>
            <a:pPr algn="l">
              <a:spcAft>
                <a:spcPts val="1600"/>
              </a:spcAft>
            </a:pPr>
            <a:r>
              <a:rPr sz="2000" b="1" i="0">
                <a:solidFill>
                  <a:srgbClr val="2E5D89"/>
                </a:solidFill>
                <a:latin typeface="Segoe UI"/>
              </a:rPr>
              <a:t>Legal Entity (LE)</a:t>
            </a:r>
            <a:r>
              <a:rPr sz="2000" b="0" i="0">
                <a:solidFill>
                  <a:srgbClr val="1E1B16"/>
                </a:solidFill>
                <a:latin typeface="Segoe UI"/>
              </a:rPr>
              <a:t> — binds an identifier to an LEI</a:t>
            </a:r>
          </a:p>
          <a:p>
            <a:pPr>
              <a:spcAft>
                <a:spcPts val="1600"/>
              </a:spcAft>
            </a:pPr>
            <a:r>
              <a:rPr sz="2000" b="1" i="0">
                <a:solidFill>
                  <a:srgbClr val="2E5D89"/>
                </a:solidFill>
                <a:latin typeface="Segoe UI"/>
              </a:rPr>
              <a:t>Engagement Context Role (ECR)</a:t>
            </a:r>
            <a:r>
              <a:rPr sz="2000" b="0" i="0">
                <a:solidFill>
                  <a:srgbClr val="1E1B16"/>
                </a:solidFill>
                <a:latin typeface="Segoe UI"/>
              </a:rPr>
              <a:t> — binds a person's identifier to a role within that entity</a:t>
            </a:r>
          </a:p>
          <a:p>
            <a:pPr>
              <a:spcAft>
                <a:spcPts val="1600"/>
              </a:spcAft>
            </a:pPr>
            <a:r>
              <a:rPr sz="2000" b="1" i="0">
                <a:solidFill>
                  <a:srgbClr val="2E5D89"/>
                </a:solidFill>
                <a:latin typeface="Segoe UI"/>
              </a:rPr>
              <a:t>Both chained ACDCs</a:t>
            </a:r>
            <a:r>
              <a:rPr sz="2000" b="0" i="0">
                <a:solidFill>
                  <a:srgbClr val="1E1B16"/>
                </a:solidFill>
                <a:latin typeface="Segoe UI"/>
              </a:rPr>
              <a:t> · both revocable · both verifiable offline</a:t>
            </a:r>
          </a:p>
          <a:p>
            <a:pPr>
              <a:spcAft>
                <a:spcPts val="1600"/>
              </a:spcAft>
            </a:pPr>
            <a:r>
              <a:rPr sz="2000" b="1" i="0">
                <a:solidFill>
                  <a:srgbClr val="2E5D89"/>
                </a:solidFill>
                <a:latin typeface="Segoe UI"/>
              </a:rPr>
              <a:t>Anchored in KERI</a:t>
            </a:r>
            <a:r>
              <a:rPr sz="2000" b="0" i="0">
                <a:solidFill>
                  <a:srgbClr val="1E1B16"/>
                </a:solidFill>
                <a:latin typeface="Segoe UI"/>
              </a:rPr>
              <a:t> — key event logs, not a certificate authority</a:t>
            </a:r>
          </a:p>
        </p:txBody>
      </p:sp>
      <p:sp>
        <p:nvSpPr>
          <p:cNvPr id="6" name="TextBox 5"/>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A DELIBERATE CHOICE</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Why ECR and not OOR</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68680" y="3044952"/>
          <a:ext cx="10454334" cy="1682496"/>
        </p:xfrm>
        <a:graphic>
          <a:graphicData uri="http://schemas.openxmlformats.org/drawingml/2006/table">
            <a:tbl>
              <a:tblPr firstRow="1" bandRow="1">
                <a:tableStyleId>{2D5ABB26-0587-4C30-8999-92F81FD0307C}</a:tableStyleId>
              </a:tblPr>
              <a:tblGrid>
                <a:gridCol w="2509040"/>
                <a:gridCol w="3972647"/>
                <a:gridCol w="3972647"/>
              </a:tblGrid>
              <a:tr h="420624">
                <a:tc>
                  <a:txBody>
                    <a:bodyPr wrap="square"/>
                    <a:lstStyle/>
                    <a:p>
                      <a:r>
                        <a:rPr sz="1100" b="1" i="0" spc="120">
                          <a:solidFill>
                            <a:srgbClr val="2E5D89"/>
                          </a:solidFill>
                          <a:latin typeface="Segoe UI"/>
                        </a:rPr>
                        <a:t/>
                      </a:r>
                    </a:p>
                  </a:txBody>
                  <a:tcPr>
                    <a:lnL w="0">
                      <a:noFill/>
                    </a:lnL>
                    <a:lnR w="0">
                      <a:noFill/>
                    </a:lnR>
                    <a:lnT w="0">
                      <a:noFill/>
                    </a:lnT>
                    <a:lnB w="9525">
                      <a:solidFill>
                        <a:srgbClr val="DCD6C8"/>
                      </a:solidFill>
                    </a:lnB>
                    <a:solidFill>
                      <a:srgbClr val="F7F5EF"/>
                    </a:solidFill>
                  </a:tcPr>
                </a:tc>
                <a:tc>
                  <a:txBody>
                    <a:bodyPr wrap="square"/>
                    <a:lstStyle/>
                    <a:p>
                      <a:r>
                        <a:rPr sz="1100" b="1" i="0" spc="120">
                          <a:solidFill>
                            <a:srgbClr val="2E5D89"/>
                          </a:solidFill>
                          <a:latin typeface="Segoe UI"/>
                        </a:rPr>
                        <a:t>OOR</a:t>
                      </a:r>
                    </a:p>
                  </a:txBody>
                  <a:tcPr>
                    <a:lnL w="0">
                      <a:noFill/>
                    </a:lnL>
                    <a:lnR w="0">
                      <a:noFill/>
                    </a:lnR>
                    <a:lnT w="0">
                      <a:noFill/>
                    </a:lnT>
                    <a:lnB w="9525">
                      <a:solidFill>
                        <a:srgbClr val="DCD6C8"/>
                      </a:solidFill>
                    </a:lnB>
                    <a:solidFill>
                      <a:srgbClr val="F7F5EF"/>
                    </a:solidFill>
                  </a:tcPr>
                </a:tc>
                <a:tc>
                  <a:txBody>
                    <a:bodyPr wrap="square"/>
                    <a:lstStyle/>
                    <a:p>
                      <a:r>
                        <a:rPr sz="1100" b="1" i="0" spc="120">
                          <a:solidFill>
                            <a:srgbClr val="2E5D89"/>
                          </a:solidFill>
                          <a:latin typeface="Segoe UI"/>
                        </a:rPr>
                        <a:t>ECR</a:t>
                      </a:r>
                    </a:p>
                  </a:txBody>
                  <a:tcPr>
                    <a:lnL w="0">
                      <a:noFill/>
                    </a:lnL>
                    <a:lnR w="0">
                      <a:noFill/>
                    </a:lnR>
                    <a:lnT w="0">
                      <a:noFill/>
                    </a:lnT>
                    <a:lnB w="9525">
                      <a:solidFill>
                        <a:srgbClr val="DCD6C8"/>
                      </a:solidFill>
                    </a:lnB>
                    <a:solidFill>
                      <a:srgbClr val="F7F5EF"/>
                    </a:solidFill>
                  </a:tcPr>
                </a:tc>
              </a:tr>
              <a:tr h="420624">
                <a:tc>
                  <a:txBody>
                    <a:bodyPr wrap="square"/>
                    <a:lstStyle/>
                    <a:p>
                      <a:r>
                        <a:rPr sz="1600" b="0" i="0">
                          <a:solidFill>
                            <a:srgbClr val="1E1B16"/>
                          </a:solidFill>
                          <a:latin typeface="Segoe UI"/>
                        </a:rPr>
                        <a:t>Names</a:t>
                      </a:r>
                    </a:p>
                  </a:txBody>
                  <a:tcPr anchor="ctr">
                    <a:lnL w="0">
                      <a:noFill/>
                    </a:lnL>
                    <a:lnR w="0">
                      <a:noFill/>
                    </a:lnR>
                    <a:lnT w="0">
                      <a:noFill/>
                    </a:lnT>
                    <a:lnB w="9525">
                      <a:solidFill>
                        <a:srgbClr val="DCD6C8"/>
                      </a:solidFill>
                    </a:lnB>
                    <a:solidFill>
                      <a:srgbClr val="F7F5EF"/>
                    </a:solidFill>
                  </a:tcPr>
                </a:tc>
                <a:tc>
                  <a:txBody>
                    <a:bodyPr wrap="square"/>
                    <a:lstStyle/>
                    <a:p>
                      <a:r>
                        <a:rPr sz="1600" b="0" i="0">
                          <a:solidFill>
                            <a:srgbClr val="1E1B16"/>
                          </a:solidFill>
                          <a:latin typeface="Segoe UI"/>
                        </a:rPr>
                        <a:t>A public office</a:t>
                      </a:r>
                    </a:p>
                  </a:txBody>
                  <a:tcPr anchor="ctr">
                    <a:lnL w="0">
                      <a:noFill/>
                    </a:lnL>
                    <a:lnR w="0">
                      <a:noFill/>
                    </a:lnR>
                    <a:lnT w="0">
                      <a:noFill/>
                    </a:lnT>
                    <a:lnB w="9525">
                      <a:solidFill>
                        <a:srgbClr val="DCD6C8"/>
                      </a:solidFill>
                    </a:lnB>
                    <a:solidFill>
                      <a:srgbClr val="F7F5EF"/>
                    </a:solidFill>
                  </a:tcPr>
                </a:tc>
                <a:tc>
                  <a:txBody>
                    <a:bodyPr wrap="square"/>
                    <a:lstStyle/>
                    <a:p>
                      <a:r>
                        <a:rPr sz="1600" b="0" i="0">
                          <a:solidFill>
                            <a:srgbClr val="1E1B16"/>
                          </a:solidFill>
                          <a:latin typeface="Segoe UI"/>
                        </a:rPr>
                        <a:t>An engagement context</a:t>
                      </a:r>
                    </a:p>
                  </a:txBody>
                  <a:tcPr anchor="ctr">
                    <a:lnL w="0">
                      <a:noFill/>
                    </a:lnL>
                    <a:lnR w="0">
                      <a:noFill/>
                    </a:lnR>
                    <a:lnT w="0">
                      <a:noFill/>
                    </a:lnT>
                    <a:lnB w="9525">
                      <a:solidFill>
                        <a:srgbClr val="DCD6C8"/>
                      </a:solidFill>
                    </a:lnB>
                    <a:solidFill>
                      <a:srgbClr val="F7F5EF"/>
                    </a:solidFill>
                  </a:tcPr>
                </a:tc>
              </a:tr>
              <a:tr h="420624">
                <a:tc>
                  <a:txBody>
                    <a:bodyPr wrap="square"/>
                    <a:lstStyle/>
                    <a:p>
                      <a:r>
                        <a:rPr sz="1600" b="0" i="0">
                          <a:solidFill>
                            <a:srgbClr val="1E1B16"/>
                          </a:solidFill>
                          <a:latin typeface="Segoe UI"/>
                        </a:rPr>
                        <a:t>Vocabulary</a:t>
                      </a:r>
                    </a:p>
                  </a:txBody>
                  <a:tcPr anchor="ctr">
                    <a:lnL w="0">
                      <a:noFill/>
                    </a:lnL>
                    <a:lnR w="0">
                      <a:noFill/>
                    </a:lnR>
                    <a:lnT w="0">
                      <a:noFill/>
                    </a:lnT>
                    <a:lnB w="9525">
                      <a:solidFill>
                        <a:srgbClr val="DCD6C8"/>
                      </a:solidFill>
                    </a:lnB>
                    <a:solidFill>
                      <a:srgbClr val="F7F5EF"/>
                    </a:solidFill>
                  </a:tcPr>
                </a:tc>
                <a:tc>
                  <a:txBody>
                    <a:bodyPr wrap="square"/>
                    <a:lstStyle/>
                    <a:p>
                      <a:r>
                        <a:rPr sz="1600" b="0" i="0">
                          <a:solidFill>
                            <a:srgbClr val="1E1B16"/>
                          </a:solidFill>
                          <a:latin typeface="Segoe UI"/>
                        </a:rPr>
                        <a:t>Controlled</a:t>
                      </a:r>
                    </a:p>
                  </a:txBody>
                  <a:tcPr anchor="ctr">
                    <a:lnL w="0">
                      <a:noFill/>
                    </a:lnL>
                    <a:lnR w="0">
                      <a:noFill/>
                    </a:lnR>
                    <a:lnT w="0">
                      <a:noFill/>
                    </a:lnT>
                    <a:lnB w="9525">
                      <a:solidFill>
                        <a:srgbClr val="DCD6C8"/>
                      </a:solidFill>
                    </a:lnB>
                    <a:solidFill>
                      <a:srgbClr val="F7F5EF"/>
                    </a:solidFill>
                  </a:tcPr>
                </a:tc>
                <a:tc>
                  <a:txBody>
                    <a:bodyPr wrap="square"/>
                    <a:lstStyle/>
                    <a:p>
                      <a:r>
                        <a:rPr sz="1600" b="0" i="0">
                          <a:solidFill>
                            <a:srgbClr val="1E1B16"/>
                          </a:solidFill>
                          <a:latin typeface="Segoe UI"/>
                        </a:rPr>
                        <a:t>Defined by the entity</a:t>
                      </a:r>
                    </a:p>
                  </a:txBody>
                  <a:tcPr anchor="ctr">
                    <a:lnL w="0">
                      <a:noFill/>
                    </a:lnL>
                    <a:lnR w="0">
                      <a:noFill/>
                    </a:lnR>
                    <a:lnT w="0">
                      <a:noFill/>
                    </a:lnT>
                    <a:lnB w="9525">
                      <a:solidFill>
                        <a:srgbClr val="DCD6C8"/>
                      </a:solidFill>
                    </a:lnB>
                    <a:solidFill>
                      <a:srgbClr val="F7F5EF"/>
                    </a:solidFill>
                  </a:tcPr>
                </a:tc>
              </a:tr>
              <a:tr h="420624">
                <a:tc>
                  <a:txBody>
                    <a:bodyPr wrap="square"/>
                    <a:lstStyle/>
                    <a:p>
                      <a:r>
                        <a:rPr sz="1600" b="0" i="0">
                          <a:solidFill>
                            <a:srgbClr val="1E1B16"/>
                          </a:solidFill>
                          <a:latin typeface="Segoe UI"/>
                        </a:rPr>
                        <a:t>Validated by</a:t>
                      </a:r>
                    </a:p>
                  </a:txBody>
                  <a:tcPr anchor="ctr">
                    <a:lnL w="0">
                      <a:noFill/>
                    </a:lnL>
                    <a:lnR w="0">
                      <a:noFill/>
                    </a:lnR>
                    <a:lnT w="0">
                      <a:noFill/>
                    </a:lnT>
                    <a:lnB w="9525">
                      <a:solidFill>
                        <a:srgbClr val="DCD6C8"/>
                      </a:solidFill>
                    </a:lnB>
                    <a:solidFill>
                      <a:srgbClr val="F7F5EF"/>
                    </a:solidFill>
                  </a:tcPr>
                </a:tc>
                <a:tc>
                  <a:txBody>
                    <a:bodyPr wrap="square"/>
                    <a:lstStyle/>
                    <a:p>
                      <a:r>
                        <a:rPr sz="1600" b="0" i="0">
                          <a:solidFill>
                            <a:srgbClr val="1E1B16"/>
                          </a:solidFill>
                          <a:latin typeface="Segoe UI"/>
                        </a:rPr>
                        <a:t>GLEIF</a:t>
                      </a:r>
                    </a:p>
                  </a:txBody>
                  <a:tcPr anchor="ctr">
                    <a:lnL w="0">
                      <a:noFill/>
                    </a:lnL>
                    <a:lnR w="0">
                      <a:noFill/>
                    </a:lnR>
                    <a:lnT w="0">
                      <a:noFill/>
                    </a:lnT>
                    <a:lnB w="9525">
                      <a:solidFill>
                        <a:srgbClr val="DCD6C8"/>
                      </a:solidFill>
                    </a:lnB>
                    <a:solidFill>
                      <a:srgbClr val="F7F5EF"/>
                    </a:solidFill>
                  </a:tcPr>
                </a:tc>
                <a:tc>
                  <a:txBody>
                    <a:bodyPr wrap="square"/>
                    <a:lstStyle/>
                    <a:p>
                      <a:r>
                        <a:rPr sz="1600" b="0" i="0">
                          <a:solidFill>
                            <a:srgbClr val="1E1B16"/>
                          </a:solidFill>
                          <a:latin typeface="Segoe UI"/>
                        </a:rPr>
                        <a:t>The entity itself</a:t>
                      </a:r>
                    </a:p>
                  </a:txBody>
                  <a:tcPr anchor="ctr">
                    <a:lnL w="0">
                      <a:noFill/>
                    </a:lnL>
                    <a:lnR w="0">
                      <a:noFill/>
                    </a:lnR>
                    <a:lnT w="0">
                      <a:noFill/>
                    </a:lnT>
                    <a:lnB w="9525">
                      <a:solidFill>
                        <a:srgbClr val="DCD6C8"/>
                      </a:solidFill>
                    </a:lnB>
                    <a:solidFill>
                      <a:srgbClr val="F7F5EF"/>
                    </a:solidFill>
                  </a:tcPr>
                </a:tc>
              </a:tr>
            </a:tbl>
          </a:graphicData>
        </a:graphic>
      </p:graphicFrame>
      <p:sp>
        <p:nvSpPr>
          <p:cNvPr id="6" name="TextBox 5"/>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6E6658"/>
                </a:solidFill>
                <a:latin typeface="Georgia"/>
              </a:rPr>
              <a:t>"May file regulatory returns up to this amount" is an engagement context, not a public office.</a:t>
            </a:r>
          </a:p>
        </p:txBody>
      </p:sp>
      <p:sp>
        <p:nvSpPr>
          <p:cNvPr id="7" name="TextBox 6"/>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THE EXTENSION</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What we added: the schema</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112772"/>
            <a:ext cx="10454335" cy="3546856"/>
          </a:xfrm>
          <a:prstGeom prst="rect">
            <a:avLst/>
          </a:prstGeom>
          <a:solidFill>
            <a:srgbClr val="EFE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1288" y="2405380"/>
            <a:ext cx="9869119" cy="2961640"/>
          </a:xfrm>
          <a:prstGeom prst="rect">
            <a:avLst/>
          </a:prstGeom>
          <a:noFill/>
        </p:spPr>
        <p:txBody>
          <a:bodyPr wrap="square" anchor="t" lIns="0" rIns="0" tIns="0" bIns="0">
            <a:spAutoFit/>
          </a:bodyPr>
          <a:lstStyle/>
          <a:p>
            <a:pPr algn="l">
              <a:spcAft>
                <a:spcPts val="300"/>
              </a:spcAft>
            </a:pPr>
            <a:r>
              <a:rPr sz="1400" b="0" i="0">
                <a:solidFill>
                  <a:srgbClr val="1E1B16"/>
                </a:solidFill>
                <a:latin typeface="Consolas"/>
              </a:rPr>
              <a:t>capabilities.extensions["org.gleif.vlei/identity"]</a:t>
            </a:r>
          </a:p>
          <a:p>
            <a:pPr>
              <a:spcAft>
                <a:spcPts val="300"/>
              </a:spcAft>
            </a:pPr>
            <a:r>
              <a:rPr sz="1400" b="0" i="0">
                <a:solidFill>
                  <a:srgbClr val="1E1B16"/>
                </a:solidFill>
                <a:latin typeface="Consolas"/>
              </a:rPr>
              <a:t>    presents / requires / acceptedRoots / ttlMs</a:t>
            </a:r>
          </a:p>
          <a:p>
            <a:pPr>
              <a:spcAft>
                <a:spcPts val="300"/>
              </a:spcAft>
            </a:pPr>
            <a:r>
              <a:rPr sz="1400" b="0" i="0">
                <a:solidFill>
                  <a:srgbClr val="1E1B16"/>
                </a:solidFill>
                <a:latin typeface="Consolas"/>
              </a:rPr>
              <a:t/>
            </a:r>
          </a:p>
          <a:p>
            <a:pPr>
              <a:spcAft>
                <a:spcPts val="300"/>
              </a:spcAft>
            </a:pPr>
            <a:r>
              <a:rPr sz="1400" b="0" i="0">
                <a:solidFill>
                  <a:srgbClr val="1E1B16"/>
                </a:solidFill>
                <a:latin typeface="Consolas"/>
              </a:rPr>
              <a:t>params._meta</a:t>
            </a:r>
          </a:p>
          <a:p>
            <a:pPr>
              <a:spcAft>
                <a:spcPts val="300"/>
              </a:spcAft>
            </a:pPr>
            <a:r>
              <a:rPr sz="1400" b="1" i="0">
                <a:solidFill>
                  <a:srgbClr val="2E5D89"/>
                </a:solidFill>
                <a:latin typeface="Consolas"/>
              </a:rPr>
              <a:t>    org.gleif.vlei/credential</a:t>
            </a:r>
          </a:p>
          <a:p>
            <a:pPr>
              <a:spcAft>
                <a:spcPts val="300"/>
              </a:spcAft>
            </a:pPr>
            <a:r>
              <a:rPr sz="1400" b="1" i="0">
                <a:solidFill>
                  <a:srgbClr val="2E5D89"/>
                </a:solidFill>
                <a:latin typeface="Consolas"/>
              </a:rPr>
              <a:t>    org.gleif.vlei/credentialSaid</a:t>
            </a:r>
          </a:p>
          <a:p>
            <a:pPr>
              <a:spcAft>
                <a:spcPts val="300"/>
              </a:spcAft>
            </a:pPr>
            <a:r>
              <a:rPr sz="1400" b="1" i="0">
                <a:solidFill>
                  <a:srgbClr val="2E5D89"/>
                </a:solidFill>
                <a:latin typeface="Consolas"/>
              </a:rPr>
              <a:t>    org.gleif.vlei/delegatedAid</a:t>
            </a:r>
          </a:p>
          <a:p>
            <a:pPr>
              <a:spcAft>
                <a:spcPts val="300"/>
              </a:spcAft>
            </a:pPr>
            <a:r>
              <a:rPr sz="1400" b="1" i="0">
                <a:solidFill>
                  <a:srgbClr val="2E5D89"/>
                </a:solidFill>
                <a:latin typeface="Consolas"/>
              </a:rPr>
              <a:t>    org.gleif.vlei/signature</a:t>
            </a:r>
          </a:p>
          <a:p>
            <a:pPr>
              <a:spcAft>
                <a:spcPts val="300"/>
              </a:spcAft>
            </a:pPr>
            <a:r>
              <a:rPr sz="1400" b="0" i="0">
                <a:solidFill>
                  <a:srgbClr val="1E1B16"/>
                </a:solidFill>
                <a:latin typeface="Consolas"/>
              </a:rPr>
              <a:t/>
            </a:r>
          </a:p>
          <a:p>
            <a:pPr>
              <a:spcAft>
                <a:spcPts val="300"/>
              </a:spcAft>
            </a:pPr>
            <a:r>
              <a:rPr sz="1400" b="0" i="0">
                <a:solidFill>
                  <a:srgbClr val="1E1B16"/>
                </a:solidFill>
                <a:latin typeface="Consolas"/>
              </a:rPr>
              <a:t>Tool._meta</a:t>
            </a:r>
          </a:p>
          <a:p>
            <a:pPr>
              <a:spcAft>
                <a:spcPts val="300"/>
              </a:spcAft>
            </a:pPr>
            <a:r>
              <a:rPr sz="1400" b="1" i="0">
                <a:solidFill>
                  <a:srgbClr val="2E5D89"/>
                </a:solidFill>
                <a:latin typeface="Consolas"/>
              </a:rPr>
              <a:t>    org.gleif.vlei/requires  { credential, role, scope }</a:t>
            </a:r>
          </a:p>
        </p:txBody>
      </p:sp>
      <p:sp>
        <p:nvSpPr>
          <p:cNvPr id="7" name="TextBox 6"/>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1E1B16"/>
                </a:solidFill>
                <a:latin typeface="Georgia"/>
              </a:rPr>
              <a:t>Four keys in _meta. Nothing in core changes.</a:t>
            </a:r>
          </a:p>
        </p:txBody>
      </p:sp>
      <p:sp>
        <p:nvSpPr>
          <p:cNvPr id="8" name="TextBox 7"/>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THE EXTENSION</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What we added: verification</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582672"/>
            <a:ext cx="6248095" cy="2607056"/>
          </a:xfrm>
          <a:prstGeom prst="rect">
            <a:avLst/>
          </a:prstGeom>
          <a:solidFill>
            <a:srgbClr val="EFE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1288" y="2875280"/>
            <a:ext cx="5662879" cy="2021840"/>
          </a:xfrm>
          <a:prstGeom prst="rect">
            <a:avLst/>
          </a:prstGeom>
          <a:noFill/>
        </p:spPr>
        <p:txBody>
          <a:bodyPr wrap="square" anchor="t" lIns="0" rIns="0" tIns="0" bIns="0">
            <a:spAutoFit/>
          </a:bodyPr>
          <a:lstStyle/>
          <a:p>
            <a:pPr algn="l">
              <a:spcAft>
                <a:spcPts val="300"/>
              </a:spcAft>
            </a:pPr>
            <a:r>
              <a:rPr sz="1300" b="0" i="0">
                <a:solidFill>
                  <a:srgbClr val="1E1B16"/>
                </a:solidFill>
                <a:latin typeface="Consolas"/>
              </a:rPr>
              <a:t>   1  credential_present   request</a:t>
            </a:r>
          </a:p>
          <a:p>
            <a:pPr>
              <a:spcAft>
                <a:spcPts val="300"/>
              </a:spcAft>
            </a:pPr>
            <a:r>
              <a:rPr sz="1300" b="0" i="0">
                <a:solidFill>
                  <a:srgbClr val="1E1B16"/>
                </a:solidFill>
                <a:latin typeface="Consolas"/>
              </a:rPr>
              <a:t>   2  freshness            request</a:t>
            </a:r>
          </a:p>
          <a:p>
            <a:pPr>
              <a:spcAft>
                <a:spcPts val="300"/>
              </a:spcAft>
            </a:pPr>
            <a:r>
              <a:rPr sz="1300" b="0" i="0">
                <a:solidFill>
                  <a:srgbClr val="1E1B16"/>
                </a:solidFill>
                <a:latin typeface="Consolas"/>
              </a:rPr>
              <a:t>   3  digest               request</a:t>
            </a:r>
          </a:p>
          <a:p>
            <a:pPr>
              <a:spcAft>
                <a:spcPts val="300"/>
              </a:spcAft>
            </a:pPr>
            <a:r>
              <a:rPr sz="1300" b="1" i="0">
                <a:solidFill>
                  <a:srgbClr val="2E5D89"/>
                </a:solidFill>
                <a:latin typeface="Consolas"/>
              </a:rPr>
              <a:t>   4  signature            signer's key log · witness</a:t>
            </a:r>
          </a:p>
          <a:p>
            <a:pPr>
              <a:spcAft>
                <a:spcPts val="300"/>
              </a:spcAft>
            </a:pPr>
            <a:r>
              <a:rPr sz="1300" b="1" i="0">
                <a:solidFill>
                  <a:srgbClr val="2E5D89"/>
                </a:solidFill>
                <a:latin typeface="Consolas"/>
              </a:rPr>
              <a:t>   5  delegation           holder's key log</a:t>
            </a:r>
          </a:p>
          <a:p>
            <a:pPr>
              <a:spcAft>
                <a:spcPts val="300"/>
              </a:spcAft>
            </a:pPr>
            <a:r>
              <a:rPr sz="1300" b="0" i="0">
                <a:solidFill>
                  <a:srgbClr val="1E1B16"/>
                </a:solidFill>
                <a:latin typeface="Consolas"/>
              </a:rPr>
              <a:t>   6  chain                stream · issuers' logs</a:t>
            </a:r>
          </a:p>
          <a:p>
            <a:pPr>
              <a:spcAft>
                <a:spcPts val="300"/>
              </a:spcAft>
            </a:pPr>
            <a:r>
              <a:rPr sz="1300" b="0" i="0">
                <a:solidFill>
                  <a:srgbClr val="1E1B16"/>
                </a:solidFill>
                <a:latin typeface="Consolas"/>
              </a:rPr>
              <a:t>   7  revocation           issuers' live logs</a:t>
            </a:r>
          </a:p>
          <a:p>
            <a:pPr>
              <a:spcAft>
                <a:spcPts val="300"/>
              </a:spcAft>
            </a:pPr>
            <a:r>
              <a:rPr sz="1300" b="0" i="0">
                <a:solidFill>
                  <a:srgbClr val="1E1B16"/>
                </a:solidFill>
                <a:latin typeface="Consolas"/>
              </a:rPr>
              <a:t>   8  authority            credential</a:t>
            </a:r>
          </a:p>
        </p:txBody>
      </p:sp>
      <p:pic>
        <p:nvPicPr>
          <p:cNvPr id="7" name="Picture 6" descr="scene-1-verification.png"/>
          <p:cNvPicPr>
            <a:picLocks noChangeAspect="1"/>
          </p:cNvPicPr>
          <p:nvPr/>
        </p:nvPicPr>
        <p:blipFill>
          <a:blip r:embed="rId3"/>
          <a:stretch>
            <a:fillRect/>
          </a:stretch>
        </p:blipFill>
        <p:spPr>
          <a:xfrm>
            <a:off x="7555748" y="1975104"/>
            <a:ext cx="3694053" cy="3474720"/>
          </a:xfrm>
          <a:prstGeom prst="rect">
            <a:avLst/>
          </a:prstGeom>
          <a:ln w="9525">
            <a:solidFill>
              <a:srgbClr val="DCD6C8"/>
            </a:solidFill>
          </a:ln>
        </p:spPr>
      </p:pic>
      <p:sp>
        <p:nvSpPr>
          <p:cNvPr id="8" name="TextBox 7"/>
          <p:cNvSpPr txBox="1"/>
          <p:nvPr/>
        </p:nvSpPr>
        <p:spPr>
          <a:xfrm>
            <a:off x="7555748" y="5541264"/>
            <a:ext cx="3694053" cy="274320"/>
          </a:xfrm>
          <a:prstGeom prst="rect">
            <a:avLst/>
          </a:prstGeom>
          <a:noFill/>
        </p:spPr>
        <p:txBody>
          <a:bodyPr wrap="square" anchor="t" lIns="0" rIns="0" tIns="0" bIns="0">
            <a:spAutoFit/>
          </a:bodyPr>
          <a:lstStyle/>
          <a:p>
            <a:pPr algn="l"/>
            <a:r>
              <a:rPr sz="1000" b="0" i="0">
                <a:solidFill>
                  <a:srgbClr val="6E6658"/>
                </a:solidFill>
                <a:latin typeface="Segoe UI"/>
              </a:rPr>
              <a:t>Scene 1 · the same checks, run on a live call</a:t>
            </a:r>
          </a:p>
        </p:txBody>
      </p:sp>
      <p:sp>
        <p:nvSpPr>
          <p:cNvPr id="9" name="TextBox 8"/>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1E1B16"/>
                </a:solidFill>
                <a:latin typeface="Georgia"/>
              </a:rPr>
              <a:t>The key a request is checked against comes from the signer's own log — never from the request.</a:t>
            </a:r>
          </a:p>
        </p:txBody>
      </p:sp>
      <p:sp>
        <p:nvSpPr>
          <p:cNvPr id="10" name="TextBox 9"/>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FROM BUILDING IT</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Three things the paper design did not predict</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75104"/>
            <a:ext cx="10454335" cy="3822192"/>
          </a:xfrm>
          <a:prstGeom prst="rect">
            <a:avLst/>
          </a:prstGeom>
          <a:noFill/>
        </p:spPr>
        <p:txBody>
          <a:bodyPr wrap="square" anchor="ctr" lIns="0" rIns="0" tIns="0" bIns="0">
            <a:spAutoFit/>
          </a:bodyPr>
          <a:lstStyle/>
          <a:p>
            <a:pPr algn="l">
              <a:spcAft>
                <a:spcPts val="2400"/>
              </a:spcAft>
            </a:pPr>
            <a:r>
              <a:rPr sz="2100" b="1" i="0">
                <a:solidFill>
                  <a:srgbClr val="2E5D89"/>
                </a:solidFill>
                <a:latin typeface="Segoe UI"/>
              </a:rPr>
              <a:t>1  </a:t>
            </a:r>
            <a:r>
              <a:rPr sz="2100" b="0" i="0">
                <a:solidFill>
                  <a:srgbClr val="1E1B16"/>
                </a:solidFill>
                <a:latin typeface="Segoe UI"/>
              </a:rPr>
              <a:t>Presentation is the holder's step — so a counterparty's credential must be verified locally</a:t>
            </a:r>
          </a:p>
          <a:p>
            <a:pPr>
              <a:spcAft>
                <a:spcPts val="2400"/>
              </a:spcAft>
            </a:pPr>
            <a:r>
              <a:rPr sz="2100" b="1" i="0">
                <a:solidFill>
                  <a:srgbClr val="2E5D89"/>
                </a:solidFill>
                <a:latin typeface="Segoe UI"/>
              </a:rPr>
              <a:t>2  </a:t>
            </a:r>
            <a:r>
              <a:rPr sz="2100" b="0" i="0">
                <a:solidFill>
                  <a:srgbClr val="1E1B16"/>
                </a:solidFill>
                <a:latin typeface="Segoe UI"/>
              </a:rPr>
              <a:t>Ask about the issuee, not the signer</a:t>
            </a:r>
          </a:p>
          <a:p>
            <a:pPr>
              <a:spcAft>
                <a:spcPts val="2400"/>
              </a:spcAft>
            </a:pPr>
            <a:r>
              <a:rPr sz="2100" b="1" i="0">
                <a:solidFill>
                  <a:srgbClr val="2E5D89"/>
                </a:solidFill>
                <a:latin typeface="Segoe UI"/>
              </a:rPr>
              <a:t>3  </a:t>
            </a:r>
            <a:r>
              <a:rPr sz="2100" b="0" i="0">
                <a:solidFill>
                  <a:srgbClr val="1E1B16"/>
                </a:solidFill>
                <a:latin typeface="Segoe UI"/>
              </a:rPr>
              <a:t>Protocol version negotiation decides whether extensions exist at all</a:t>
            </a:r>
          </a:p>
        </p:txBody>
      </p:sp>
      <p:sp>
        <p:nvSpPr>
          <p:cNvPr id="6" name="TextBox 5"/>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6E6658"/>
                </a:solidFill>
                <a:latin typeface="Georgia"/>
              </a:rPr>
              <a:t>None of the three is derivable from the design. They are what a second implementer would otherwise pay for again.</a:t>
            </a:r>
          </a:p>
        </p:txBody>
      </p:sp>
      <p:sp>
        <p:nvSpPr>
          <p:cNvPr id="7" name="TextBox 6"/>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TRACEABILITY</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Every requirement, traced</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75104"/>
            <a:ext cx="10454335" cy="3822192"/>
          </a:xfrm>
          <a:prstGeom prst="rect">
            <a:avLst/>
          </a:prstGeom>
          <a:noFill/>
        </p:spPr>
        <p:txBody>
          <a:bodyPr wrap="square" anchor="ctr" lIns="0" rIns="0" tIns="0" bIns="0">
            <a:spAutoFit/>
          </a:bodyPr>
          <a:lstStyle/>
          <a:p>
            <a:pPr algn="l">
              <a:spcAft>
                <a:spcPts val="1800"/>
              </a:spcAft>
            </a:pPr>
            <a:r>
              <a:rPr sz="2000" b="0" i="0">
                <a:solidFill>
                  <a:srgbClr val="1E1B16"/>
                </a:solidFill>
                <a:latin typeface="Segoe UI"/>
              </a:rPr>
              <a:t>docs/CONFORMANCE.md — every normative statement, its code, its test</a:t>
            </a:r>
          </a:p>
          <a:p>
            <a:pPr>
              <a:spcAft>
                <a:spcPts val="1800"/>
              </a:spcAft>
            </a:pPr>
            <a:r>
              <a:rPr sz="2000" b="1" i="0">
                <a:solidFill>
                  <a:srgbClr val="2E5D89"/>
                </a:solidFill>
                <a:latin typeface="Segoe UI"/>
              </a:rPr>
              <a:t>One defect every green test missed: </a:t>
            </a:r>
            <a:r>
              <a:rPr sz="2000" b="0" i="0">
                <a:solidFill>
                  <a:srgbClr val="1E1B16"/>
                </a:solidFill>
                <a:latin typeface="Segoe UI"/>
              </a:rPr>
              <a:t>the signature was checked under a key the request carried. Found, fixed, recorded.</a:t>
            </a:r>
          </a:p>
          <a:p>
            <a:pPr>
              <a:spcAft>
                <a:spcPts val="1800"/>
              </a:spcAft>
            </a:pPr>
            <a:r>
              <a:rPr sz="2000" b="1" i="0">
                <a:solidFill>
                  <a:srgbClr val="2E5D89"/>
                </a:solidFill>
                <a:latin typeface="Segoe UI"/>
              </a:rPr>
              <a:t>A server written from the skill alone </a:t>
            </a:r>
            <a:r>
              <a:rPr sz="2000" b="0" i="0">
                <a:solidFill>
                  <a:srgbClr val="1E1B16"/>
                </a:solidFill>
                <a:latin typeface="Segoe UI"/>
              </a:rPr>
              <a:t>found one more gap in ours — the ECR's LEI was not tied to its legal entity. Fixed.</a:t>
            </a:r>
          </a:p>
          <a:p>
            <a:pPr>
              <a:spcAft>
                <a:spcPts val="1800"/>
              </a:spcAft>
            </a:pPr>
            <a:r>
              <a:rPr sz="2000" b="0" i="0">
                <a:solidFill>
                  <a:srgbClr val="1E1B16"/>
                </a:solidFill>
                <a:latin typeface="Segoe UI"/>
              </a:rPr>
              <a:t>A section listing what is deliberately not claimed</a:t>
            </a:r>
          </a:p>
        </p:txBody>
      </p:sp>
      <p:sp>
        <p:nvSpPr>
          <p:cNvPr id="6" name="TextBox 5"/>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6E6658"/>
                </a:solidFill>
                <a:latin typeface="Georgia"/>
              </a:rPr>
              <a:t>A conformance document that lists only successes is not evidence of anything.</a:t>
            </a:r>
          </a:p>
        </p:txBody>
      </p:sp>
      <p:sp>
        <p:nvSpPr>
          <p:cNvPr id="7" name="TextBox 6"/>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pic>
        <p:nvPicPr>
          <p:cNvPr id="2" name="Picture 1" descr="scene-3.png"/>
          <p:cNvPicPr>
            <a:picLocks noChangeAspect="1"/>
          </p:cNvPicPr>
          <p:nvPr/>
        </p:nvPicPr>
        <p:blipFill>
          <a:blip r:embed="rId3"/>
          <a:stretch>
            <a:fillRect/>
          </a:stretch>
        </p:blipFill>
        <p:spPr>
          <a:xfrm>
            <a:off x="1889607" y="502920"/>
            <a:ext cx="8412480" cy="4732020"/>
          </a:xfrm>
          <a:prstGeom prst="rect">
            <a:avLst/>
          </a:prstGeom>
          <a:ln w="9525">
            <a:solidFill>
              <a:srgbClr val="DCD6C8"/>
            </a:solidFill>
          </a:ln>
        </p:spPr>
      </p:pic>
      <p:sp>
        <p:nvSpPr>
          <p:cNvPr id="3" name="TextBox 2"/>
          <p:cNvSpPr txBox="1"/>
          <p:nvPr/>
        </p:nvSpPr>
        <p:spPr>
          <a:xfrm>
            <a:off x="1889607" y="5564124"/>
            <a:ext cx="7223760" cy="640080"/>
          </a:xfrm>
          <a:prstGeom prst="rect">
            <a:avLst/>
          </a:prstGeom>
          <a:noFill/>
        </p:spPr>
        <p:txBody>
          <a:bodyPr wrap="square" anchor="t" lIns="0" rIns="0" tIns="0" bIns="0">
            <a:spAutoFit/>
          </a:bodyPr>
          <a:lstStyle/>
          <a:p>
            <a:pPr algn="l">
              <a:spcAft>
                <a:spcPts val="200"/>
              </a:spcAft>
            </a:pPr>
            <a:r>
              <a:rPr sz="1500" b="0" i="0">
                <a:solidFill>
                  <a:srgbClr val="1E1B16"/>
                </a:solidFill>
                <a:latin typeface="Georgia"/>
              </a:rPr>
              <a:t>Real KERI, real ACDC, real revocation.</a:t>
            </a:r>
          </a:p>
          <a:p>
            <a:pPr>
              <a:spcAft>
                <a:spcPts val="200"/>
              </a:spcAft>
            </a:pPr>
            <a:r>
              <a:rPr sz="1500" b="0" i="0">
                <a:solidFill>
                  <a:srgbClr val="C0392B"/>
                </a:solidFill>
                <a:latin typeface="Georgia"/>
              </a:rPr>
              <a:t>The root of trust is self-configured; in production it would be GLEIF's.</a:t>
            </a:r>
          </a:p>
        </p:txBody>
      </p:sp>
      <p:sp>
        <p:nvSpPr>
          <p:cNvPr id="4" name="TextBox 3"/>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CLOSE TO HOME</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Taiwan already runs this model</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68680" y="2350008"/>
          <a:ext cx="10454334" cy="2980944"/>
        </p:xfrm>
        <a:graphic>
          <a:graphicData uri="http://schemas.openxmlformats.org/drawingml/2006/table">
            <a:tbl>
              <a:tblPr firstRow="1" bandRow="1">
                <a:tableStyleId>{2D5ABB26-0587-4C30-8999-92F81FD0307C}</a:tableStyleId>
              </a:tblPr>
              <a:tblGrid>
                <a:gridCol w="1568150"/>
                <a:gridCol w="4704450"/>
                <a:gridCol w="4181734"/>
              </a:tblGrid>
              <a:tr h="420624">
                <a:tc>
                  <a:txBody>
                    <a:bodyPr wrap="square"/>
                    <a:lstStyle/>
                    <a:p>
                      <a:r>
                        <a:rPr sz="1100" b="1" i="0" spc="120">
                          <a:solidFill>
                            <a:srgbClr val="2E5D89"/>
                          </a:solidFill>
                          <a:latin typeface="Segoe UI"/>
                        </a:rPr>
                        <a:t/>
                      </a:r>
                    </a:p>
                  </a:txBody>
                  <a:tcPr>
                    <a:lnL w="0">
                      <a:noFill/>
                    </a:lnL>
                    <a:lnR w="0">
                      <a:noFill/>
                    </a:lnR>
                    <a:lnT w="0">
                      <a:noFill/>
                    </a:lnT>
                    <a:lnB w="9525">
                      <a:solidFill>
                        <a:srgbClr val="DCD6C8"/>
                      </a:solidFill>
                    </a:lnB>
                    <a:solidFill>
                      <a:srgbClr val="F7F5EF"/>
                    </a:solidFill>
                  </a:tcPr>
                </a:tc>
                <a:tc>
                  <a:txBody>
                    <a:bodyPr wrap="square"/>
                    <a:lstStyle/>
                    <a:p>
                      <a:r>
                        <a:rPr sz="1100" b="1" i="0" spc="120">
                          <a:solidFill>
                            <a:srgbClr val="2E5D89"/>
                          </a:solidFill>
                          <a:latin typeface="Segoe UI"/>
                        </a:rPr>
                        <a:t>TAIWAN TODAY</a:t>
                      </a:r>
                    </a:p>
                  </a:txBody>
                  <a:tcPr>
                    <a:lnL w="0">
                      <a:noFill/>
                    </a:lnL>
                    <a:lnR w="0">
                      <a:noFill/>
                    </a:lnR>
                    <a:lnT w="0">
                      <a:noFill/>
                    </a:lnT>
                    <a:lnB w="9525">
                      <a:solidFill>
                        <a:srgbClr val="DCD6C8"/>
                      </a:solidFill>
                    </a:lnB>
                    <a:solidFill>
                      <a:srgbClr val="F7F5EF"/>
                    </a:solidFill>
                  </a:tcPr>
                </a:tc>
                <a:tc>
                  <a:txBody>
                    <a:bodyPr wrap="square"/>
                    <a:lstStyle/>
                    <a:p>
                      <a:r>
                        <a:rPr sz="1100" b="1" i="0" spc="120">
                          <a:solidFill>
                            <a:srgbClr val="2E5D89"/>
                          </a:solidFill>
                          <a:latin typeface="Segoe UI"/>
                        </a:rPr>
                        <a:t>THIS PROPOSAL</a:t>
                      </a:r>
                    </a:p>
                  </a:txBody>
                  <a:tcPr>
                    <a:lnL w="0">
                      <a:noFill/>
                    </a:lnL>
                    <a:lnR w="0">
                      <a:noFill/>
                    </a:lnR>
                    <a:lnT w="0">
                      <a:noFill/>
                    </a:lnT>
                    <a:lnB w="9525">
                      <a:solidFill>
                        <a:srgbClr val="DCD6C8"/>
                      </a:solidFill>
                    </a:lnB>
                    <a:solidFill>
                      <a:srgbClr val="F7F5EF"/>
                    </a:solidFill>
                  </a:tcPr>
                </a:tc>
              </a:tr>
              <a:tr h="512064">
                <a:tc>
                  <a:txBody>
                    <a:bodyPr wrap="square"/>
                    <a:lstStyle/>
                    <a:p>
                      <a:r>
                        <a:rPr sz="1300" b="0" i="0">
                          <a:solidFill>
                            <a:srgbClr val="1E1B16"/>
                          </a:solidFill>
                          <a:latin typeface="Segoe UI"/>
                        </a:rPr>
                        <a:t>Holder</a:t>
                      </a:r>
                    </a:p>
                  </a:txBody>
                  <a:tcPr anchor="ctr">
                    <a:lnL w="0">
                      <a:noFill/>
                    </a:lnL>
                    <a:lnR w="0">
                      <a:noFill/>
                    </a:lnR>
                    <a:lnT w="0">
                      <a:noFill/>
                    </a:lnT>
                    <a:lnB w="9525">
                      <a:solidFill>
                        <a:srgbClr val="DCD6C8"/>
                      </a:solidFill>
                    </a:lnB>
                    <a:solidFill>
                      <a:srgbClr val="F7F5EF"/>
                    </a:solidFill>
                  </a:tcPr>
                </a:tc>
                <a:tc>
                  <a:txBody>
                    <a:bodyPr wrap="square"/>
                    <a:lstStyle/>
                    <a:p>
                      <a:r>
                        <a:rPr sz="1300" b="0" i="0">
                          <a:solidFill>
                            <a:srgbClr val="1E1B16"/>
                          </a:solidFill>
                          <a:latin typeface="Segoe UI"/>
                          <a:ea typeface="Microsoft JhengHei"/>
                        </a:rPr>
                        <a:t>People — Digital Identity Wallet 數位憑證皮夾; companies — MOEA business certificate 工商憑證</a:t>
                      </a:r>
                    </a:p>
                  </a:txBody>
                  <a:tcPr anchor="ctr">
                    <a:lnL w="0">
                      <a:noFill/>
                    </a:lnL>
                    <a:lnR w="0">
                      <a:noFill/>
                    </a:lnR>
                    <a:lnT w="0">
                      <a:noFill/>
                    </a:lnT>
                    <a:lnB w="9525">
                      <a:solidFill>
                        <a:srgbClr val="DCD6C8"/>
                      </a:solidFill>
                    </a:lnB>
                    <a:solidFill>
                      <a:srgbClr val="F7F5EF"/>
                    </a:solidFill>
                  </a:tcPr>
                </a:tc>
                <a:tc>
                  <a:txBody>
                    <a:bodyPr wrap="square"/>
                    <a:lstStyle/>
                    <a:p>
                      <a:r>
                        <a:rPr sz="1300" b="0" i="0">
                          <a:solidFill>
                            <a:srgbClr val="1E1B16"/>
                          </a:solidFill>
                          <a:latin typeface="Segoe UI"/>
                        </a:rPr>
                        <a:t>Legal entities, and the agents acting for them</a:t>
                      </a:r>
                    </a:p>
                  </a:txBody>
                  <a:tcPr anchor="ctr">
                    <a:lnL w="0">
                      <a:noFill/>
                    </a:lnL>
                    <a:lnR w="0">
                      <a:noFill/>
                    </a:lnR>
                    <a:lnT w="0">
                      <a:noFill/>
                    </a:lnT>
                    <a:lnB w="9525">
                      <a:solidFill>
                        <a:srgbClr val="DCD6C8"/>
                      </a:solidFill>
                    </a:lnB>
                    <a:solidFill>
                      <a:srgbClr val="F7F5EF"/>
                    </a:solidFill>
                  </a:tcPr>
                </a:tc>
              </a:tr>
              <a:tr h="512064">
                <a:tc>
                  <a:txBody>
                    <a:bodyPr wrap="square"/>
                    <a:lstStyle/>
                    <a:p>
                      <a:r>
                        <a:rPr sz="1300" b="0" i="0">
                          <a:solidFill>
                            <a:srgbClr val="1E1B16"/>
                          </a:solidFill>
                          <a:latin typeface="Segoe UI"/>
                        </a:rPr>
                        <a:t>Delegation</a:t>
                      </a:r>
                    </a:p>
                  </a:txBody>
                  <a:tcPr anchor="ctr">
                    <a:lnL w="0">
                      <a:noFill/>
                    </a:lnL>
                    <a:lnR w="0">
                      <a:noFill/>
                    </a:lnR>
                    <a:lnT w="0">
                      <a:noFill/>
                    </a:lnT>
                    <a:lnB w="9525">
                      <a:solidFill>
                        <a:srgbClr val="DCD6C8"/>
                      </a:solidFill>
                    </a:lnB>
                    <a:solidFill>
                      <a:srgbClr val="F7F5EF"/>
                    </a:solidFill>
                  </a:tcPr>
                </a:tc>
                <a:tc>
                  <a:txBody>
                    <a:bodyPr wrap="square"/>
                    <a:lstStyle/>
                    <a:p>
                      <a:r>
                        <a:rPr sz="1300" b="0" i="0">
                          <a:solidFill>
                            <a:srgbClr val="1E1B16"/>
                          </a:solidFill>
                          <a:latin typeface="Segoe UI"/>
                          <a:ea typeface="Microsoft JhengHei"/>
                        </a:rPr>
                        <a:t>To employees — the certificate's attached card 附卡; per site and time limit announced for the phone</a:t>
                      </a:r>
                    </a:p>
                  </a:txBody>
                  <a:tcPr anchor="ctr">
                    <a:lnL w="0">
                      <a:noFill/>
                    </a:lnL>
                    <a:lnR w="0">
                      <a:noFill/>
                    </a:lnR>
                    <a:lnT w="0">
                      <a:noFill/>
                    </a:lnT>
                    <a:lnB w="9525">
                      <a:solidFill>
                        <a:srgbClr val="DCD6C8"/>
                      </a:solidFill>
                    </a:lnB>
                    <a:solidFill>
                      <a:srgbClr val="F7F5EF"/>
                    </a:solidFill>
                  </a:tcPr>
                </a:tc>
                <a:tc>
                  <a:txBody>
                    <a:bodyPr wrap="square"/>
                    <a:lstStyle/>
                    <a:p>
                      <a:r>
                        <a:rPr sz="1300" b="0" i="0">
                          <a:solidFill>
                            <a:srgbClr val="1E1B16"/>
                          </a:solidFill>
                          <a:latin typeface="Segoe UI"/>
                        </a:rPr>
                        <a:t>To an agent — a delegated identifier under the ECR holder, scoped</a:t>
                      </a:r>
                    </a:p>
                  </a:txBody>
                  <a:tcPr anchor="ctr">
                    <a:lnL w="0">
                      <a:noFill/>
                    </a:lnL>
                    <a:lnR w="0">
                      <a:noFill/>
                    </a:lnR>
                    <a:lnT w="0">
                      <a:noFill/>
                    </a:lnT>
                    <a:lnB w="9525">
                      <a:solidFill>
                        <a:srgbClr val="DCD6C8"/>
                      </a:solidFill>
                    </a:lnB>
                    <a:solidFill>
                      <a:srgbClr val="F7F5EF"/>
                    </a:solidFill>
                  </a:tcPr>
                </a:tc>
              </a:tr>
              <a:tr h="512064">
                <a:tc>
                  <a:txBody>
                    <a:bodyPr wrap="square"/>
                    <a:lstStyle/>
                    <a:p>
                      <a:r>
                        <a:rPr sz="1300" b="0" i="0">
                          <a:solidFill>
                            <a:srgbClr val="1E1B16"/>
                          </a:solidFill>
                          <a:latin typeface="Segoe UI"/>
                        </a:rPr>
                        <a:t>Identifier</a:t>
                      </a:r>
                    </a:p>
                  </a:txBody>
                  <a:tcPr anchor="ctr">
                    <a:lnL w="0">
                      <a:noFill/>
                    </a:lnL>
                    <a:lnR w="0">
                      <a:noFill/>
                    </a:lnR>
                    <a:lnT w="0">
                      <a:noFill/>
                    </a:lnT>
                    <a:lnB w="9525">
                      <a:solidFill>
                        <a:srgbClr val="DCD6C8"/>
                      </a:solidFill>
                    </a:lnB>
                    <a:solidFill>
                      <a:srgbClr val="F7F5EF"/>
                    </a:solidFill>
                  </a:tcPr>
                </a:tc>
                <a:tc>
                  <a:txBody>
                    <a:bodyPr wrap="square"/>
                    <a:lstStyle/>
                    <a:p>
                      <a:r>
                        <a:rPr sz="1300" b="0" i="0">
                          <a:solidFill>
                            <a:srgbClr val="1E1B16"/>
                          </a:solidFill>
                          <a:latin typeface="Segoe UI"/>
                          <a:ea typeface="Microsoft JhengHei"/>
                        </a:rPr>
                        <a:t>Unified business number 統一編號</a:t>
                      </a:r>
                    </a:p>
                  </a:txBody>
                  <a:tcPr anchor="ctr">
                    <a:lnL w="0">
                      <a:noFill/>
                    </a:lnL>
                    <a:lnR w="0">
                      <a:noFill/>
                    </a:lnR>
                    <a:lnT w="0">
                      <a:noFill/>
                    </a:lnT>
                    <a:lnB w="9525">
                      <a:solidFill>
                        <a:srgbClr val="DCD6C8"/>
                      </a:solidFill>
                    </a:lnB>
                    <a:solidFill>
                      <a:srgbClr val="F7F5EF"/>
                    </a:solidFill>
                  </a:tcPr>
                </a:tc>
                <a:tc>
                  <a:txBody>
                    <a:bodyPr wrap="square"/>
                    <a:lstStyle/>
                    <a:p>
                      <a:r>
                        <a:rPr sz="1300" b="0" i="0">
                          <a:solidFill>
                            <a:srgbClr val="1E1B16"/>
                          </a:solidFill>
                          <a:latin typeface="Segoe UI"/>
                          <a:ea typeface="Microsoft JhengHei"/>
                        </a:rPr>
                        <a:t>LEI — a Taiwanese entity's record carries its 統一編號</a:t>
                      </a:r>
                    </a:p>
                  </a:txBody>
                  <a:tcPr anchor="ctr">
                    <a:lnL w="0">
                      <a:noFill/>
                    </a:lnL>
                    <a:lnR w="0">
                      <a:noFill/>
                    </a:lnR>
                    <a:lnT w="0">
                      <a:noFill/>
                    </a:lnT>
                    <a:lnB w="9525">
                      <a:solidFill>
                        <a:srgbClr val="DCD6C8"/>
                      </a:solidFill>
                    </a:lnB>
                    <a:solidFill>
                      <a:srgbClr val="F7F5EF"/>
                    </a:solidFill>
                  </a:tcPr>
                </a:tc>
              </a:tr>
              <a:tr h="512064">
                <a:tc>
                  <a:txBody>
                    <a:bodyPr wrap="square"/>
                    <a:lstStyle/>
                    <a:p>
                      <a:r>
                        <a:rPr sz="1300" b="0" i="0">
                          <a:solidFill>
                            <a:srgbClr val="1E1B16"/>
                          </a:solidFill>
                          <a:latin typeface="Segoe UI"/>
                        </a:rPr>
                        <a:t>Reach</a:t>
                      </a:r>
                    </a:p>
                  </a:txBody>
                  <a:tcPr anchor="ctr">
                    <a:lnL w="0">
                      <a:noFill/>
                    </a:lnL>
                    <a:lnR w="0">
                      <a:noFill/>
                    </a:lnR>
                    <a:lnT w="0">
                      <a:noFill/>
                    </a:lnT>
                    <a:lnB w="9525">
                      <a:solidFill>
                        <a:srgbClr val="DCD6C8"/>
                      </a:solidFill>
                    </a:lnB>
                    <a:solidFill>
                      <a:srgbClr val="F7F5EF"/>
                    </a:solidFill>
                  </a:tcPr>
                </a:tc>
                <a:tc>
                  <a:txBody>
                    <a:bodyPr wrap="square"/>
                    <a:lstStyle/>
                    <a:p>
                      <a:r>
                        <a:rPr sz="1300" b="0" i="0">
                          <a:solidFill>
                            <a:srgbClr val="1E1B16"/>
                          </a:solidFill>
                          <a:latin typeface="Segoe UI"/>
                        </a:rPr>
                        <a:t>Domestic — over 180 G2B and B2B systems</a:t>
                      </a:r>
                    </a:p>
                  </a:txBody>
                  <a:tcPr anchor="ctr">
                    <a:lnL w="0">
                      <a:noFill/>
                    </a:lnL>
                    <a:lnR w="0">
                      <a:noFill/>
                    </a:lnR>
                    <a:lnT w="0">
                      <a:noFill/>
                    </a:lnT>
                    <a:lnB w="9525">
                      <a:solidFill>
                        <a:srgbClr val="DCD6C8"/>
                      </a:solidFill>
                    </a:lnB>
                    <a:solidFill>
                      <a:srgbClr val="F7F5EF"/>
                    </a:solidFill>
                  </a:tcPr>
                </a:tc>
                <a:tc>
                  <a:txBody>
                    <a:bodyPr wrap="square"/>
                    <a:lstStyle/>
                    <a:p>
                      <a:r>
                        <a:rPr sz="1300" b="0" i="0">
                          <a:solidFill>
                            <a:srgbClr val="1E1B16"/>
                          </a:solidFill>
                          <a:latin typeface="Segoe UI"/>
                        </a:rPr>
                        <a:t>Verifiable abroad, back to GLEIF — ISO 17442-3:2024</a:t>
                      </a:r>
                    </a:p>
                  </a:txBody>
                  <a:tcPr anchor="ctr">
                    <a:lnL w="0">
                      <a:noFill/>
                    </a:lnL>
                    <a:lnR w="0">
                      <a:noFill/>
                    </a:lnR>
                    <a:lnT w="0">
                      <a:noFill/>
                    </a:lnT>
                    <a:lnB w="9525">
                      <a:solidFill>
                        <a:srgbClr val="DCD6C8"/>
                      </a:solidFill>
                    </a:lnB>
                    <a:solidFill>
                      <a:srgbClr val="F7F5EF"/>
                    </a:solidFill>
                  </a:tcPr>
                </a:tc>
              </a:tr>
              <a:tr h="512064">
                <a:tc>
                  <a:txBody>
                    <a:bodyPr wrap="square"/>
                    <a:lstStyle/>
                    <a:p>
                      <a:r>
                        <a:rPr sz="1300" b="0" i="0">
                          <a:solidFill>
                            <a:srgbClr val="1E1B16"/>
                          </a:solidFill>
                          <a:latin typeface="Segoe UI"/>
                        </a:rPr>
                        <a:t>Built on</a:t>
                      </a:r>
                    </a:p>
                  </a:txBody>
                  <a:tcPr anchor="ctr">
                    <a:lnL w="0">
                      <a:noFill/>
                    </a:lnL>
                    <a:lnR w="0">
                      <a:noFill/>
                    </a:lnR>
                    <a:lnT w="0">
                      <a:noFill/>
                    </a:lnT>
                    <a:lnB w="9525">
                      <a:solidFill>
                        <a:srgbClr val="DCD6C8"/>
                      </a:solidFill>
                    </a:lnB>
                    <a:solidFill>
                      <a:srgbClr val="F7F5EF"/>
                    </a:solidFill>
                  </a:tcPr>
                </a:tc>
                <a:tc>
                  <a:txBody>
                    <a:bodyPr wrap="square"/>
                    <a:lstStyle/>
                    <a:p>
                      <a:r>
                        <a:rPr sz="1300" b="0" i="0">
                          <a:solidFill>
                            <a:srgbClr val="1E1B16"/>
                          </a:solidFill>
                          <a:latin typeface="Segoe UI"/>
                        </a:rPr>
                        <a:t>X.509 (certificate) · OpenID4VC, SD-JWT VC (wallet)</a:t>
                      </a:r>
                    </a:p>
                  </a:txBody>
                  <a:tcPr anchor="ctr">
                    <a:lnL w="0">
                      <a:noFill/>
                    </a:lnL>
                    <a:lnR w="0">
                      <a:noFill/>
                    </a:lnR>
                    <a:lnT w="0">
                      <a:noFill/>
                    </a:lnT>
                    <a:lnB w="9525">
                      <a:solidFill>
                        <a:srgbClr val="DCD6C8"/>
                      </a:solidFill>
                    </a:lnB>
                    <a:solidFill>
                      <a:srgbClr val="F7F5EF"/>
                    </a:solidFill>
                  </a:tcPr>
                </a:tc>
                <a:tc>
                  <a:txBody>
                    <a:bodyPr wrap="square"/>
                    <a:lstStyle/>
                    <a:p>
                      <a:r>
                        <a:rPr sz="1300" b="0" i="0">
                          <a:solidFill>
                            <a:srgbClr val="1E1B16"/>
                          </a:solidFill>
                          <a:latin typeface="Segoe UI"/>
                        </a:rPr>
                        <a:t>KERI, ACDC — GLEIF's vLEI</a:t>
                      </a:r>
                    </a:p>
                  </a:txBody>
                  <a:tcPr anchor="ctr">
                    <a:lnL w="0">
                      <a:noFill/>
                    </a:lnL>
                    <a:lnR w="0">
                      <a:noFill/>
                    </a:lnR>
                    <a:lnT w="0">
                      <a:noFill/>
                    </a:lnT>
                    <a:lnB w="9525">
                      <a:solidFill>
                        <a:srgbClr val="DCD6C8"/>
                      </a:solidFill>
                    </a:lnB>
                    <a:solidFill>
                      <a:srgbClr val="F7F5EF"/>
                    </a:solidFill>
                  </a:tcPr>
                </a:tc>
              </a:tr>
            </a:tbl>
          </a:graphicData>
        </a:graphic>
      </p:graphicFrame>
      <p:sp>
        <p:nvSpPr>
          <p:cNvPr id="6" name="TextBox 5"/>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6E6658"/>
                </a:solidFill>
                <a:latin typeface="Georgia"/>
              </a:rPr>
              <a:t>Taiwan already delegates a company's authority to its people. What it does not yet do is delegate it to an agent, or make it verifiable abroad.</a:t>
            </a:r>
          </a:p>
        </p:txBody>
      </p:sp>
      <p:sp>
        <p:nvSpPr>
          <p:cNvPr id="7" name="TextBox 6"/>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BOTH ALREADY EXIST IN INSTITUTIONS</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Two ways to check an identity</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75104"/>
            <a:ext cx="10454335" cy="3822192"/>
          </a:xfrm>
          <a:prstGeom prst="rect">
            <a:avLst/>
          </a:prstGeom>
          <a:noFill/>
        </p:spPr>
        <p:txBody>
          <a:bodyPr wrap="square" anchor="ctr" lIns="0" rIns="0" tIns="0" bIns="0">
            <a:spAutoFit/>
          </a:bodyPr>
          <a:lstStyle/>
          <a:p>
            <a:pPr algn="l">
              <a:spcAft>
                <a:spcPts val="2200"/>
              </a:spcAft>
            </a:pPr>
            <a:r>
              <a:rPr sz="1900" b="1" i="0">
                <a:solidFill>
                  <a:srgbClr val="2E5D89"/>
                </a:solidFill>
                <a:latin typeface="Segoe UI"/>
              </a:rPr>
              <a:t>(a) Passive, from a public location</a:t>
            </a:r>
            <a:r>
              <a:rPr sz="1900" b="0" i="0">
                <a:solidFill>
                  <a:srgbClr val="1E1B16"/>
                </a:solidFill>
                <a:latin typeface="Segoe UI"/>
              </a:rPr>
              <a:t> — publish once, verify anywhere, no per-check cost</a:t>
            </a:r>
          </a:p>
          <a:p>
            <a:pPr>
              <a:spcAft>
                <a:spcPts val="2200"/>
              </a:spcAft>
            </a:pPr>
            <a:r>
              <a:rPr sz="1900" b="1" i="0">
                <a:solidFill>
                  <a:srgbClr val="2E5D89"/>
                </a:solidFill>
                <a:latin typeface="Segoe UI"/>
                <a:ea typeface="Microsoft JhengHei"/>
              </a:rPr>
              <a:t>(b) Attested confirmation (來函確認)</a:t>
            </a:r>
            <a:r>
              <a:rPr sz="1900" b="0" i="0">
                <a:solidFill>
                  <a:srgbClr val="1E1B16"/>
                </a:solidFill>
                <a:latin typeface="Segoe UI"/>
              </a:rPr>
              <a:t> — one institution confirms to another, signed</a:t>
            </a:r>
          </a:p>
          <a:p>
            <a:pPr>
              <a:spcAft>
                <a:spcPts val="2200"/>
              </a:spcAft>
            </a:pPr>
            <a:r>
              <a:rPr sz="1900" b="1" i="0">
                <a:solidFill>
                  <a:srgbClr val="2E5D89"/>
                </a:solidFill>
                <a:latin typeface="Segoe UI"/>
              </a:rPr>
              <a:t>The limit, stated: </a:t>
            </a:r>
            <a:r>
              <a:rPr sz="1900" b="0" i="0">
                <a:solidFill>
                  <a:srgbClr val="1E1B16"/>
                </a:solidFill>
                <a:latin typeface="Segoe UI"/>
              </a:rPr>
              <a:t>relying on an attestation means relying on that institution's judgment — exactly as relying on a letter does today.</a:t>
            </a:r>
          </a:p>
        </p:txBody>
      </p:sp>
      <p:sp>
        <p:nvSpPr>
          <p:cNvPr id="6" name="TextBox 5"/>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6E6658"/>
                </a:solidFill>
                <a:latin typeface="Georgia"/>
              </a:rPr>
              <a:t>The attesting institution must itself have been verified first.</a:t>
            </a:r>
          </a:p>
        </p:txBody>
      </p:sp>
      <p:sp>
        <p:nvSpPr>
          <p:cNvPr id="7" name="TextBox 6"/>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ADOPTION</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Six stages, one of which touches IT</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75104"/>
            <a:ext cx="10454335" cy="3822192"/>
          </a:xfrm>
          <a:prstGeom prst="rect">
            <a:avLst/>
          </a:prstGeom>
          <a:noFill/>
        </p:spPr>
        <p:txBody>
          <a:bodyPr wrap="square" anchor="ctr" lIns="0" rIns="0" tIns="0" bIns="0">
            <a:spAutoFit/>
          </a:bodyPr>
          <a:lstStyle/>
          <a:p>
            <a:pPr algn="l">
              <a:spcAft>
                <a:spcPts val="1200"/>
              </a:spcAft>
            </a:pPr>
            <a:r>
              <a:rPr sz="1900" b="1" i="0">
                <a:solidFill>
                  <a:srgbClr val="2E5D89"/>
                </a:solidFill>
                <a:latin typeface="Segoe UI"/>
              </a:rPr>
              <a:t>0  </a:t>
            </a:r>
            <a:r>
              <a:rPr sz="1900" b="0" i="0">
                <a:solidFill>
                  <a:srgbClr val="1E1B16"/>
                </a:solidFill>
                <a:latin typeface="Segoe UI"/>
              </a:rPr>
              <a:t>Credential and role vocabulary — the business unit, not IT</a:t>
            </a:r>
          </a:p>
          <a:p>
            <a:pPr>
              <a:spcAft>
                <a:spcPts val="1200"/>
              </a:spcAft>
            </a:pPr>
            <a:r>
              <a:rPr sz="1900" b="1" i="0">
                <a:solidFill>
                  <a:srgbClr val="2E5D89"/>
                </a:solidFill>
                <a:latin typeface="Segoe UI"/>
              </a:rPr>
              <a:t>1  </a:t>
            </a:r>
            <a:r>
              <a:rPr sz="1900" b="0" i="0">
                <a:solidFill>
                  <a:srgbClr val="1E1B16"/>
                </a:solidFill>
                <a:latin typeface="Segoe UI"/>
              </a:rPr>
              <a:t>Publish at a well-known location</a:t>
            </a:r>
          </a:p>
          <a:p>
            <a:pPr>
              <a:spcAft>
                <a:spcPts val="1200"/>
              </a:spcAft>
            </a:pPr>
            <a:r>
              <a:rPr sz="1900" b="1" i="0">
                <a:solidFill>
                  <a:srgbClr val="2E5D89"/>
                </a:solidFill>
                <a:latin typeface="Segoe UI"/>
              </a:rPr>
              <a:t>2  </a:t>
            </a:r>
            <a:r>
              <a:rPr sz="1900" b="0" i="0">
                <a:solidFill>
                  <a:srgbClr val="1E1B16"/>
                </a:solidFill>
                <a:latin typeface="Segoe UI"/>
              </a:rPr>
              <a:t>Declare the requirement per tool</a:t>
            </a:r>
          </a:p>
          <a:p>
            <a:pPr>
              <a:spcAft>
                <a:spcPts val="1200"/>
              </a:spcAft>
            </a:pPr>
            <a:r>
              <a:rPr sz="1900" b="1" i="0">
                <a:solidFill>
                  <a:srgbClr val="2E5D89"/>
                </a:solidFill>
                <a:latin typeface="Segoe UI"/>
              </a:rPr>
              <a:t>3  </a:t>
            </a:r>
            <a:r>
              <a:rPr sz="1900" b="0" i="0">
                <a:solidFill>
                  <a:srgbClr val="1E1B16"/>
                </a:solidFill>
                <a:latin typeface="Segoe UI"/>
              </a:rPr>
              <a:t>Verify at the gateway ← the only IT change</a:t>
            </a:r>
          </a:p>
          <a:p>
            <a:pPr>
              <a:spcAft>
                <a:spcPts val="1200"/>
              </a:spcAft>
            </a:pPr>
            <a:r>
              <a:rPr sz="1900" b="1" i="0">
                <a:solidFill>
                  <a:srgbClr val="2E5D89"/>
                </a:solidFill>
                <a:latin typeface="Segoe UI"/>
              </a:rPr>
              <a:t>4  </a:t>
            </a:r>
            <a:r>
              <a:rPr sz="1900" b="0" i="0">
                <a:solidFill>
                  <a:srgbClr val="1E1B16"/>
                </a:solidFill>
                <a:latin typeface="Segoe UI"/>
              </a:rPr>
              <a:t>Attestations between institutions</a:t>
            </a:r>
          </a:p>
          <a:p>
            <a:pPr>
              <a:spcAft>
                <a:spcPts val="1200"/>
              </a:spcAft>
            </a:pPr>
            <a:r>
              <a:rPr sz="1900" b="1" i="0">
                <a:solidFill>
                  <a:srgbClr val="2E5D89"/>
                </a:solidFill>
                <a:latin typeface="Segoe UI"/>
              </a:rPr>
              <a:t>5  </a:t>
            </a:r>
            <a:r>
              <a:rPr sz="1900" b="0" i="0">
                <a:solidFill>
                  <a:srgbClr val="1E1B16"/>
                </a:solidFill>
                <a:latin typeface="Segoe UI"/>
              </a:rPr>
              <a:t>Audit records</a:t>
            </a:r>
          </a:p>
        </p:txBody>
      </p:sp>
      <p:sp>
        <p:nvSpPr>
          <p:cNvPr id="6" name="TextBox 5"/>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6E6658"/>
                </a:solidFill>
                <a:latin typeface="Georgia"/>
              </a:rPr>
              <a:t>The filing service contains no verification code. It reads five headers the gateway sets.</a:t>
            </a:r>
          </a:p>
        </p:txBody>
      </p:sp>
      <p:sp>
        <p:nvSpPr>
          <p:cNvPr id="7" name="TextBox 6"/>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ADOPTION</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What an institution gets</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68680" y="2624328"/>
          <a:ext cx="10454334" cy="2523744"/>
        </p:xfrm>
        <a:graphic>
          <a:graphicData uri="http://schemas.openxmlformats.org/drawingml/2006/table">
            <a:tbl>
              <a:tblPr firstRow="1" bandRow="1">
                <a:tableStyleId>{2D5ABB26-0587-4C30-8999-92F81FD0307C}</a:tableStyleId>
              </a:tblPr>
              <a:tblGrid>
                <a:gridCol w="3136300"/>
                <a:gridCol w="3659017"/>
                <a:gridCol w="3659017"/>
              </a:tblGrid>
              <a:tr h="420624">
                <a:tc>
                  <a:txBody>
                    <a:bodyPr wrap="square"/>
                    <a:lstStyle/>
                    <a:p>
                      <a:r>
                        <a:rPr sz="1100" b="1" i="0" spc="120">
                          <a:solidFill>
                            <a:srgbClr val="2E5D89"/>
                          </a:solidFill>
                          <a:latin typeface="Segoe UI"/>
                        </a:rPr>
                        <a:t/>
                      </a:r>
                    </a:p>
                  </a:txBody>
                  <a:tcPr>
                    <a:lnL w="0">
                      <a:noFill/>
                    </a:lnL>
                    <a:lnR w="0">
                      <a:noFill/>
                    </a:lnR>
                    <a:lnT w="0">
                      <a:noFill/>
                    </a:lnT>
                    <a:lnB w="9525">
                      <a:solidFill>
                        <a:srgbClr val="DCD6C8"/>
                      </a:solidFill>
                    </a:lnB>
                    <a:solidFill>
                      <a:srgbClr val="F7F5EF"/>
                    </a:solidFill>
                  </a:tcPr>
                </a:tc>
                <a:tc>
                  <a:txBody>
                    <a:bodyPr wrap="square"/>
                    <a:lstStyle/>
                    <a:p>
                      <a:r>
                        <a:rPr sz="1100" b="1" i="0" spc="120">
                          <a:solidFill>
                            <a:srgbClr val="2E5D89"/>
                          </a:solidFill>
                          <a:latin typeface="Segoe UI"/>
                        </a:rPr>
                        <a:t>TODAY</a:t>
                      </a:r>
                    </a:p>
                  </a:txBody>
                  <a:tcPr>
                    <a:lnL w="0">
                      <a:noFill/>
                    </a:lnL>
                    <a:lnR w="0">
                      <a:noFill/>
                    </a:lnR>
                    <a:lnT w="0">
                      <a:noFill/>
                    </a:lnT>
                    <a:lnB w="9525">
                      <a:solidFill>
                        <a:srgbClr val="DCD6C8"/>
                      </a:solidFill>
                    </a:lnB>
                    <a:solidFill>
                      <a:srgbClr val="F7F5EF"/>
                    </a:solidFill>
                  </a:tcPr>
                </a:tc>
                <a:tc>
                  <a:txBody>
                    <a:bodyPr wrap="square"/>
                    <a:lstStyle/>
                    <a:p>
                      <a:r>
                        <a:rPr sz="1100" b="1" i="0" spc="120">
                          <a:solidFill>
                            <a:srgbClr val="2E5D89"/>
                          </a:solidFill>
                          <a:latin typeface="Segoe UI"/>
                        </a:rPr>
                        <a:t>AFTER STAGE 3</a:t>
                      </a:r>
                    </a:p>
                  </a:txBody>
                  <a:tcPr>
                    <a:lnL w="0">
                      <a:noFill/>
                    </a:lnL>
                    <a:lnR w="0">
                      <a:noFill/>
                    </a:lnR>
                    <a:lnT w="0">
                      <a:noFill/>
                    </a:lnT>
                    <a:lnB w="9525">
                      <a:solidFill>
                        <a:srgbClr val="DCD6C8"/>
                      </a:solidFill>
                    </a:lnB>
                    <a:solidFill>
                      <a:srgbClr val="F7F5EF"/>
                    </a:solidFill>
                  </a:tcPr>
                </a:tc>
              </a:tr>
              <a:tr h="420624">
                <a:tc>
                  <a:txBody>
                    <a:bodyPr wrap="square"/>
                    <a:lstStyle/>
                    <a:p>
                      <a:r>
                        <a:rPr sz="1400" b="0" i="0">
                          <a:solidFill>
                            <a:srgbClr val="1E1B16"/>
                          </a:solidFill>
                          <a:latin typeface="Segoe UI"/>
                        </a:rPr>
                        <a:t>Who filed</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A session, a token</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A named entity and role</a:t>
                      </a:r>
                    </a:p>
                  </a:txBody>
                  <a:tcPr anchor="ctr">
                    <a:lnL w="0">
                      <a:noFill/>
                    </a:lnL>
                    <a:lnR w="0">
                      <a:noFill/>
                    </a:lnR>
                    <a:lnT w="0">
                      <a:noFill/>
                    </a:lnT>
                    <a:lnB w="9525">
                      <a:solidFill>
                        <a:srgbClr val="DCD6C8"/>
                      </a:solidFill>
                    </a:lnB>
                    <a:solidFill>
                      <a:srgbClr val="F7F5EF"/>
                    </a:solidFill>
                  </a:tcPr>
                </a:tc>
              </a:tr>
              <a:tr h="420624">
                <a:tc>
                  <a:txBody>
                    <a:bodyPr wrap="square"/>
                    <a:lstStyle/>
                    <a:p>
                      <a:r>
                        <a:rPr sz="1400" b="0" i="0">
                          <a:solidFill>
                            <a:srgbClr val="1E1B16"/>
                          </a:solidFill>
                          <a:latin typeface="Segoe UI"/>
                        </a:rPr>
                        <a:t>Authority changed</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A ticket</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Revoke the credential</a:t>
                      </a:r>
                    </a:p>
                  </a:txBody>
                  <a:tcPr anchor="ctr">
                    <a:lnL w="0">
                      <a:noFill/>
                    </a:lnL>
                    <a:lnR w="0">
                      <a:noFill/>
                    </a:lnR>
                    <a:lnT w="0">
                      <a:noFill/>
                    </a:lnT>
                    <a:lnB w="9525">
                      <a:solidFill>
                        <a:srgbClr val="DCD6C8"/>
                      </a:solidFill>
                    </a:lnB>
                    <a:solidFill>
                      <a:srgbClr val="F7F5EF"/>
                    </a:solidFill>
                  </a:tcPr>
                </a:tc>
              </a:tr>
              <a:tr h="420624">
                <a:tc>
                  <a:txBody>
                    <a:bodyPr wrap="square"/>
                    <a:lstStyle/>
                    <a:p>
                      <a:r>
                        <a:rPr sz="1400" b="0" i="0">
                          <a:solidFill>
                            <a:srgbClr val="1E1B16"/>
                          </a:solidFill>
                          <a:latin typeface="Segoe UI"/>
                        </a:rPr>
                        <a:t>New system built</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None</a:t>
                      </a:r>
                    </a:p>
                  </a:txBody>
                  <a:tcPr anchor="ctr">
                    <a:lnL w="0">
                      <a:noFill/>
                    </a:lnL>
                    <a:lnR w="0">
                      <a:noFill/>
                    </a:lnR>
                    <a:lnT w="0">
                      <a:noFill/>
                    </a:lnT>
                    <a:lnB w="9525">
                      <a:solidFill>
                        <a:srgbClr val="DCD6C8"/>
                      </a:solidFill>
                    </a:lnB>
                    <a:solidFill>
                      <a:srgbClr val="F7F5EF"/>
                    </a:solidFill>
                  </a:tcPr>
                </a:tc>
              </a:tr>
              <a:tr h="420624">
                <a:tc>
                  <a:txBody>
                    <a:bodyPr wrap="square"/>
                    <a:lstStyle/>
                    <a:p>
                      <a:r>
                        <a:rPr sz="1400" b="0" i="0">
                          <a:solidFill>
                            <a:srgbClr val="1E1B16"/>
                          </a:solidFill>
                          <a:latin typeface="Segoe UI"/>
                        </a:rPr>
                        <a:t>Existing sign-on</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Answers which user</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Unchanged — still required</a:t>
                      </a:r>
                    </a:p>
                  </a:txBody>
                  <a:tcPr anchor="ctr">
                    <a:lnL w="0">
                      <a:noFill/>
                    </a:lnL>
                    <a:lnR w="0">
                      <a:noFill/>
                    </a:lnR>
                    <a:lnT w="0">
                      <a:noFill/>
                    </a:lnT>
                    <a:lnB w="9525">
                      <a:solidFill>
                        <a:srgbClr val="DCD6C8"/>
                      </a:solidFill>
                    </a:lnB>
                    <a:solidFill>
                      <a:srgbClr val="F7F5EF"/>
                    </a:solidFill>
                  </a:tcPr>
                </a:tc>
              </a:tr>
              <a:tr h="420624">
                <a:tc>
                  <a:txBody>
                    <a:bodyPr wrap="square"/>
                    <a:lstStyle/>
                    <a:p>
                      <a:r>
                        <a:rPr sz="1400" b="0" i="0">
                          <a:solidFill>
                            <a:srgbClr val="1E1B16"/>
                          </a:solidFill>
                          <a:latin typeface="Segoe UI"/>
                        </a:rPr>
                        <a:t>Audit record</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An IP and a timestamp</a:t>
                      </a:r>
                    </a:p>
                  </a:txBody>
                  <a:tcPr anchor="ctr">
                    <a:lnL w="0">
                      <a:noFill/>
                    </a:lnL>
                    <a:lnR w="0">
                      <a:noFill/>
                    </a:lnR>
                    <a:lnT w="0">
                      <a:noFill/>
                    </a:lnT>
                    <a:lnB w="9525">
                      <a:solidFill>
                        <a:srgbClr val="DCD6C8"/>
                      </a:solidFill>
                    </a:lnB>
                    <a:solidFill>
                      <a:srgbClr val="F7F5EF"/>
                    </a:solidFill>
                  </a:tcPr>
                </a:tc>
                <a:tc>
                  <a:txBody>
                    <a:bodyPr wrap="square"/>
                    <a:lstStyle/>
                    <a:p>
                      <a:r>
                        <a:rPr sz="1400" b="0" i="0">
                          <a:solidFill>
                            <a:srgbClr val="1E1B16"/>
                          </a:solidFill>
                          <a:latin typeface="Segoe UI"/>
                        </a:rPr>
                        <a:t>LEI, role, signature</a:t>
                      </a:r>
                    </a:p>
                  </a:txBody>
                  <a:tcPr anchor="ctr">
                    <a:lnL w="0">
                      <a:noFill/>
                    </a:lnL>
                    <a:lnR w="0">
                      <a:noFill/>
                    </a:lnR>
                    <a:lnT w="0">
                      <a:noFill/>
                    </a:lnT>
                    <a:lnB w="9525">
                      <a:solidFill>
                        <a:srgbClr val="DCD6C8"/>
                      </a:solidFill>
                    </a:lnB>
                    <a:solidFill>
                      <a:srgbClr val="F7F5EF"/>
                    </a:solidFill>
                  </a:tcPr>
                </a:tc>
              </a:tr>
            </a:tbl>
          </a:graphicData>
        </a:graphic>
      </p:graphicFrame>
      <p:sp>
        <p:nvSpPr>
          <p:cNvPr id="6" name="TextBox 5"/>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6E6658"/>
                </a:solidFill>
                <a:latin typeface="Georgia"/>
              </a:rPr>
              <a:t>vLEI answers which organization. Your existing sign-on still answers which user. A high-value action should require both.</a:t>
            </a:r>
          </a:p>
        </p:txBody>
      </p:sp>
      <p:sp>
        <p:nvSpPr>
          <p:cNvPr id="7" name="TextBox 6"/>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STATED, NOT WAITED FOR</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Limits</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75104"/>
            <a:ext cx="10454335" cy="3822192"/>
          </a:xfrm>
          <a:prstGeom prst="rect">
            <a:avLst/>
          </a:prstGeom>
          <a:noFill/>
        </p:spPr>
        <p:txBody>
          <a:bodyPr wrap="square" anchor="ctr" lIns="0" rIns="0" tIns="0" bIns="0">
            <a:spAutoFit/>
          </a:bodyPr>
          <a:lstStyle/>
          <a:p>
            <a:pPr algn="l">
              <a:spcAft>
                <a:spcPts val="900"/>
              </a:spcAft>
            </a:pPr>
            <a:r>
              <a:rPr sz="1800" b="0" i="0">
                <a:solidFill>
                  <a:srgbClr val="1E1B16"/>
                </a:solidFill>
                <a:latin typeface="Segoe UI"/>
              </a:rPr>
              <a:t>Verifiable is not the same as trustworthy</a:t>
            </a:r>
          </a:p>
          <a:p>
            <a:pPr>
              <a:spcAft>
                <a:spcPts val="900"/>
              </a:spcAft>
            </a:pPr>
            <a:r>
              <a:rPr sz="1800" b="0" i="0">
                <a:solidFill>
                  <a:srgbClr val="1E1B16"/>
                </a:solidFill>
                <a:latin typeface="Segoe UI"/>
              </a:rPr>
              <a:t>LEIs are not issued to private individuals</a:t>
            </a:r>
          </a:p>
          <a:p>
            <a:pPr>
              <a:spcAft>
                <a:spcPts val="900"/>
              </a:spcAft>
            </a:pPr>
            <a:r>
              <a:rPr sz="1800" b="0" i="0">
                <a:solidFill>
                  <a:srgbClr val="1E1B16"/>
                </a:solidFill>
                <a:latin typeface="Segoe UI"/>
              </a:rPr>
              <a:t>There is a cost, and QVI coverage is still expanding</a:t>
            </a:r>
          </a:p>
          <a:p>
            <a:pPr>
              <a:spcAft>
                <a:spcPts val="900"/>
              </a:spcAft>
            </a:pPr>
            <a:r>
              <a:rPr sz="1800" b="0" i="0">
                <a:solidFill>
                  <a:srgbClr val="1E1B16"/>
                </a:solidFill>
                <a:latin typeface="Segoe UI"/>
              </a:rPr>
              <a:t>Our demo root is self-configured</a:t>
            </a:r>
          </a:p>
          <a:p>
            <a:pPr>
              <a:spcAft>
                <a:spcPts val="900"/>
              </a:spcAft>
            </a:pPr>
            <a:r>
              <a:rPr sz="1800" b="0" i="0">
                <a:solidFill>
                  <a:srgbClr val="1E1B16"/>
                </a:solidFill>
                <a:latin typeface="Segoe UI"/>
              </a:rPr>
              <a:t>Key logs are compared across the configured witnesses — no independent watcher yet</a:t>
            </a:r>
          </a:p>
          <a:p>
            <a:pPr>
              <a:spcAft>
                <a:spcPts val="900"/>
              </a:spcAft>
            </a:pPr>
            <a:r>
              <a:rPr sz="1800" b="0" i="0">
                <a:solidFill>
                  <a:srgbClr val="1E1B16"/>
                </a:solidFill>
                <a:latin typeface="Segoe UI"/>
              </a:rPr>
              <a:t>Revoking one agent's delegation is not implemented; revoking the credential is</a:t>
            </a:r>
          </a:p>
          <a:p>
            <a:pPr>
              <a:spcAft>
                <a:spcPts val="900"/>
              </a:spcAft>
            </a:pPr>
            <a:r>
              <a:rPr sz="1800" b="0" i="0">
                <a:solidFill>
                  <a:srgbClr val="1E1B16"/>
                </a:solidFill>
                <a:latin typeface="Segoe UI"/>
              </a:rPr>
              <a:t>Agent delegation conventions are not yet settled</a:t>
            </a:r>
          </a:p>
        </p:txBody>
      </p:sp>
      <p:sp>
        <p:nvSpPr>
          <p:cNvPr id="6" name="TextBox 5"/>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6E6658"/>
                </a:solidFill>
                <a:latin typeface="Georgia"/>
              </a:rPr>
              <a:t>A valid credential proves an organization asserted a role. It does not prove the request is legitimate.</a:t>
            </a:r>
          </a:p>
        </p:txBody>
      </p:sp>
      <p:sp>
        <p:nvSpPr>
          <p:cNvPr id="7" name="TextBox 6"/>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THE ASK</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Three requests</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75104"/>
            <a:ext cx="10454335" cy="3822192"/>
          </a:xfrm>
          <a:prstGeom prst="rect">
            <a:avLst/>
          </a:prstGeom>
          <a:noFill/>
        </p:spPr>
        <p:txBody>
          <a:bodyPr wrap="square" anchor="ctr" lIns="0" rIns="0" tIns="0" bIns="0">
            <a:spAutoFit/>
          </a:bodyPr>
          <a:lstStyle/>
          <a:p>
            <a:pPr algn="l">
              <a:spcAft>
                <a:spcPts val="2600"/>
              </a:spcAft>
            </a:pPr>
            <a:r>
              <a:rPr sz="2000" b="1" i="0">
                <a:solidFill>
                  <a:srgbClr val="2E5D89"/>
                </a:solidFill>
                <a:latin typeface="Segoe UI"/>
              </a:rPr>
              <a:t>Government  </a:t>
            </a:r>
            <a:r>
              <a:rPr sz="2000" b="0" i="0">
                <a:solidFill>
                  <a:srgbClr val="1E1B16"/>
                </a:solidFill>
                <a:latin typeface="Segoe UI"/>
              </a:rPr>
              <a:t>one small pilot: one filing or lookup procedure, stages 0 to 3, no change to the department's systems</a:t>
            </a:r>
          </a:p>
          <a:p>
            <a:pPr>
              <a:spcAft>
                <a:spcPts val="2600"/>
              </a:spcAft>
            </a:pPr>
            <a:r>
              <a:rPr sz="2000" b="1" i="0">
                <a:solidFill>
                  <a:srgbClr val="2E5D89"/>
                </a:solidFill>
                <a:latin typeface="Segoe UI"/>
              </a:rPr>
              <a:t>GLEIF  </a:t>
            </a:r>
            <a:r>
              <a:rPr sz="2000" b="0" i="0">
                <a:solidFill>
                  <a:srgbClr val="1E1B16"/>
                </a:solidFill>
                <a:latin typeface="Segoe UI"/>
              </a:rPr>
              <a:t>an ECR role vocabulary for agent contexts · confirmation of the delegation model against the EGF · test credentials</a:t>
            </a:r>
          </a:p>
          <a:p>
            <a:pPr>
              <a:spcAft>
                <a:spcPts val="2600"/>
              </a:spcAft>
            </a:pPr>
            <a:r>
              <a:rPr sz="2000" b="1" i="0">
                <a:solidFill>
                  <a:srgbClr val="2E5D89"/>
                </a:solidFill>
                <a:latin typeface="Segoe UI"/>
              </a:rPr>
              <a:t>AAIF  </a:t>
            </a:r>
            <a:r>
              <a:rPr sz="2000" b="0" i="0">
                <a:solidFill>
                  <a:srgbClr val="1E1B16"/>
                </a:solidFill>
                <a:latin typeface="Segoe UI"/>
              </a:rPr>
              <a:t>take this to the Security Interest Group and the ext-auth discussion</a:t>
            </a:r>
          </a:p>
        </p:txBody>
      </p:sp>
      <p:sp>
        <p:nvSpPr>
          <p:cNvPr id="6" name="TextBox 5"/>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6E6658"/>
                </a:solidFill>
                <a:latin typeface="Georgia"/>
              </a:rPr>
              <a:t>We chose a reading of the existing mechanisms, and would rather be corrected now than at deployment.</a:t>
            </a:r>
          </a:p>
        </p:txBody>
      </p:sp>
      <p:sp>
        <p:nvSpPr>
          <p:cNvPr id="7" name="TextBox 6"/>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ONE REPOSITORY, APACHE 2.0</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Artifacts</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785872"/>
            <a:ext cx="8534095" cy="2200656"/>
          </a:xfrm>
          <a:prstGeom prst="rect">
            <a:avLst/>
          </a:prstGeom>
          <a:solidFill>
            <a:srgbClr val="EFE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1288" y="3078480"/>
            <a:ext cx="7948879" cy="1615440"/>
          </a:xfrm>
          <a:prstGeom prst="rect">
            <a:avLst/>
          </a:prstGeom>
          <a:noFill/>
        </p:spPr>
        <p:txBody>
          <a:bodyPr wrap="square" anchor="t" lIns="0" rIns="0" tIns="0" bIns="0">
            <a:spAutoFit/>
          </a:bodyPr>
          <a:lstStyle/>
          <a:p>
            <a:pPr algn="l">
              <a:spcAft>
                <a:spcPts val="300"/>
              </a:spcAft>
            </a:pPr>
            <a:r>
              <a:rPr sz="1400" b="0" i="0">
                <a:solidFill>
                  <a:srgbClr val="1E1B16"/>
                </a:solidFill>
                <a:latin typeface="Consolas"/>
              </a:rPr>
              <a:t>spec/      specification v0.2 · types · wire examples · test vectors</a:t>
            </a:r>
          </a:p>
          <a:p>
            <a:pPr>
              <a:spcAft>
                <a:spcPts val="300"/>
              </a:spcAft>
            </a:pPr>
            <a:r>
              <a:rPr sz="1400" b="0" i="0">
                <a:solidFill>
                  <a:srgbClr val="1E1B16"/>
                </a:solidFill>
                <a:latin typeface="Consolas"/>
              </a:rPr>
              <a:t>packages/  mcp-vlei — KEL + chain verification, 155 tests</a:t>
            </a:r>
          </a:p>
          <a:p>
            <a:pPr>
              <a:spcAft>
                <a:spcPts val="300"/>
              </a:spcAft>
            </a:pPr>
            <a:r>
              <a:rPr sz="1400" b="0" i="0">
                <a:solidFill>
                  <a:srgbClr val="1E1B16"/>
                </a:solidFill>
                <a:latin typeface="Consolas"/>
              </a:rPr>
              <a:t>skills/    implementing-vlei (build) · vlei-identity (runtime)</a:t>
            </a:r>
          </a:p>
          <a:p>
            <a:pPr>
              <a:spcAft>
                <a:spcPts val="300"/>
              </a:spcAft>
            </a:pPr>
            <a:r>
              <a:rPr sz="1400" b="0" i="0">
                <a:solidFill>
                  <a:srgbClr val="1E1B16"/>
                </a:solidFill>
                <a:latin typeface="Consolas"/>
              </a:rPr>
              <a:t>examples/  console · impersonation · regulator · skill-server</a:t>
            </a:r>
          </a:p>
          <a:p>
            <a:pPr>
              <a:spcAft>
                <a:spcPts val="300"/>
              </a:spcAft>
            </a:pPr>
            <a:r>
              <a:rPr sz="1400" b="0" i="0">
                <a:solidFill>
                  <a:srgbClr val="1E1B16"/>
                </a:solidFill>
                <a:latin typeface="Consolas"/>
              </a:rPr>
              <a:t>deploy/    gateway configuration — zero-code-change adoption</a:t>
            </a:r>
          </a:p>
          <a:p>
            <a:pPr>
              <a:spcAft>
                <a:spcPts val="300"/>
              </a:spcAft>
            </a:pPr>
            <a:r>
              <a:rPr sz="1400" b="0" i="0">
                <a:solidFill>
                  <a:srgbClr val="1E1B16"/>
                </a:solidFill>
                <a:latin typeface="Consolas"/>
              </a:rPr>
              <a:t>docs/      problem · adoption · conformance · upstream defect</a:t>
            </a:r>
          </a:p>
        </p:txBody>
      </p:sp>
      <p:pic>
        <p:nvPicPr>
          <p:cNvPr id="7" name="Picture 6" descr="image.png"/>
          <p:cNvPicPr>
            <a:picLocks noChangeAspect="1"/>
          </p:cNvPicPr>
          <p:nvPr/>
        </p:nvPicPr>
        <p:blipFill>
          <a:blip r:embed="rId3"/>
          <a:stretch>
            <a:fillRect/>
          </a:stretch>
        </p:blipFill>
        <p:spPr>
          <a:xfrm>
            <a:off x="9859975" y="2907792"/>
            <a:ext cx="1463040" cy="1463040"/>
          </a:xfrm>
          <a:prstGeom prst="rect">
            <a:avLst/>
          </a:prstGeom>
        </p:spPr>
      </p:pic>
      <p:sp>
        <p:nvSpPr>
          <p:cNvPr id="8" name="TextBox 7"/>
          <p:cNvSpPr txBox="1"/>
          <p:nvPr/>
        </p:nvSpPr>
        <p:spPr>
          <a:xfrm>
            <a:off x="9494215" y="4626864"/>
            <a:ext cx="2194560" cy="237744"/>
          </a:xfrm>
          <a:prstGeom prst="rect">
            <a:avLst/>
          </a:prstGeom>
          <a:noFill/>
        </p:spPr>
        <p:txBody>
          <a:bodyPr wrap="square" anchor="t" lIns="0" rIns="0" tIns="0" bIns="0">
            <a:spAutoFit/>
          </a:bodyPr>
          <a:lstStyle/>
          <a:p>
            <a:pPr algn="ctr"/>
            <a:r>
              <a:rPr sz="950" b="0" i="0">
                <a:solidFill>
                  <a:srgbClr val="6E6658"/>
                </a:solidFill>
                <a:latin typeface="Consolas"/>
              </a:rPr>
              <a:t>github.com/zuemen/mcp-vlei</a:t>
            </a:r>
          </a:p>
        </p:txBody>
      </p:sp>
      <p:sp>
        <p:nvSpPr>
          <p:cNvPr id="9" name="TextBox 8"/>
          <p:cNvSpPr txBox="1"/>
          <p:nvPr/>
        </p:nvSpPr>
        <p:spPr>
          <a:xfrm>
            <a:off x="868680" y="5943600"/>
            <a:ext cx="9082735" cy="457200"/>
          </a:xfrm>
          <a:prstGeom prst="rect">
            <a:avLst/>
          </a:prstGeom>
          <a:noFill/>
        </p:spPr>
        <p:txBody>
          <a:bodyPr wrap="square" anchor="t" lIns="0" rIns="0" tIns="0" bIns="0">
            <a:spAutoFit/>
          </a:bodyPr>
          <a:lstStyle/>
          <a:p>
            <a:pPr algn="l"/>
            <a:r>
              <a:rPr sz="1300" b="0" i="1">
                <a:solidFill>
                  <a:srgbClr val="1E1B16"/>
                </a:solidFill>
                <a:latin typeface="Georgia"/>
              </a:rPr>
              <a:t>Real KERI, real ACDC, real revocation. The root of trust is self-configured; in production it would be GLEIF's.</a:t>
            </a:r>
          </a:p>
        </p:txBody>
      </p:sp>
      <p:sp>
        <p:nvSpPr>
          <p:cNvPr id="10" name="TextBox 9"/>
          <p:cNvSpPr txBox="1"/>
          <p:nvPr/>
        </p:nvSpPr>
        <p:spPr>
          <a:xfrm>
            <a:off x="10225735" y="5980176"/>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